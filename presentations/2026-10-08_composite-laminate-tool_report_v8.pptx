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B00E5D0-359B-74E2-83AC-1D1842DF83A1}">
          <p14:sldIdLst>
            <p14:sldId id="256"/>
          </p14:sldIdLst>
        </p14:section>
        <p14:section name="Contents" id="{B081458F-5E4F-47EE-2A2A-64D1C4DB490D}">
          <p14:sldIdLst>
            <p14:sldId id="257"/>
          </p14:sldIdLst>
        </p14:section>
        <p14:section name="01 The app" id="{6A7E2EC7-7E22-B95A-559D-3384821C042B}">
          <p14:sldIdLst>
            <p14:sldId id="258"/>
          </p14:sldIdLst>
        </p14:section>
        <p14:section name="02 Calculation chain" id="{918026AA-4299-1C09-E1EC-B4CFE1887CAB}">
          <p14:sldIdLst>
            <p14:sldId id="259"/>
          </p14:sldIdLst>
        </p14:section>
        <p14:section name="03 Failure and pressure vessel" id="{97BD7146-2F28-AF92-905D-421804CAE10A}">
          <p14:sldIdLst>
            <p14:sldId id="260"/>
            <p14:sldId id="261"/>
          </p14:sldIdLst>
        </p14:section>
        <p14:section name="04 Further studies" id="{E2D48357-8EF0-5ADD-2116-B2C4E8756CE0}">
          <p14:sldIdLst>
            <p14:sldId id="262"/>
          </p14:sldIdLst>
        </p14:section>
        <p14:section name="05 Built with AI" id="{72BE660F-AA64-0087-0A85-1CBCE664126E}">
          <p14:sldIdLst>
            <p14:sldId id="263"/>
          </p14:sldIdLst>
        </p14:section>
        <p14:section name="06 Validation against Kaw" id="{5EB46546-79FF-CAE7-34DA-6A4FB48E823A}">
          <p14:sldIdLst>
            <p14:sldId id="264"/>
            <p14:sldId id="265"/>
            <p14:sldId id="266"/>
            <p14:sldId id="267"/>
            <p14:sldId id="268"/>
          </p14:sldIdLst>
        </p14:section>
        <p14:section name="07 Status" id="{C77E8FEA-9C2E-6ACA-9E9B-64686E71D747}">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8" d="100"/>
          <a:sy n="108" d="100"/>
        </p:scale>
        <p:origin x="84"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Pressure, MPa</c:v>
                </c:pt>
              </c:strCache>
            </c:strRef>
          </c:tx>
          <c:spPr>
            <a:solidFill>
              <a:srgbClr val="FF7A29"/>
            </a:solidFill>
            <a:effectLst/>
          </c:spPr>
          <c:invertIfNegative val="0"/>
          <c:dLbls>
            <c:numFmt formatCode="0.00" sourceLinked="0"/>
            <c:spPr>
              <a:noFill/>
              <a:ln>
                <a:noFill/>
              </a:ln>
              <a:effectLst/>
            </c:spPr>
            <c:txPr>
              <a:bodyPr/>
              <a:lstStyle/>
              <a:p>
                <a:pPr>
                  <a:defRPr sz="1100" b="0" i="0" u="none" strike="noStrike">
                    <a:solidFill>
                      <a:srgbClr val="16181B"/>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CLT first-ply</c:v>
                </c:pt>
                <c:pt idx="1">
                  <c:v>Progressive model stop</c:v>
                </c:pt>
                <c:pt idx="2">
                  <c:v>Netting, fibres only</c:v>
                </c:pt>
              </c:strCache>
            </c:strRef>
          </c:cat>
          <c:val>
            <c:numRef>
              <c:f>Sheet1!$B$2:$B$4</c:f>
              <c:numCache>
                <c:formatCode>General</c:formatCode>
                <c:ptCount val="3"/>
                <c:pt idx="0">
                  <c:v>2.9630000000000001</c:v>
                </c:pt>
                <c:pt idx="1">
                  <c:v>6.0279999999999996</c:v>
                </c:pt>
                <c:pt idx="2">
                  <c:v>7.5</c:v>
                </c:pt>
              </c:numCache>
            </c:numRef>
          </c:val>
          <c:extLst>
            <c:ext xmlns:c16="http://schemas.microsoft.com/office/drawing/2014/chart" uri="{C3380CC4-5D6E-409C-BE32-E72D297353CC}">
              <c16:uniqueId val="{00000000-AF2B-4314-9F60-553FB947AD7C}"/>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181B"/>
                </a:solidFill>
                <a:latin typeface="Calibri"/>
              </a:defRPr>
            </a:pPr>
            <a:endParaRPr lang="en-US"/>
          </a:p>
        </c:txPr>
        <c:crossAx val="2094734552"/>
        <c:crosses val="autoZero"/>
        <c:auto val="1"/>
        <c:lblAlgn val="ctr"/>
        <c:lblOffset val="100"/>
        <c:noMultiLvlLbl val="1"/>
      </c:catAx>
      <c:valAx>
        <c:axId val="2094734552"/>
        <c:scaling>
          <c:orientation val="minMax"/>
          <c:max val="9"/>
          <c:min val="0"/>
        </c:scaling>
        <c:delete val="0"/>
        <c:axPos val="l"/>
        <c:majorGridlines>
          <c:spPr>
            <a:ln w="6350" cap="flat">
              <a:solidFill>
                <a:srgbClr val="E3E3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F76"/>
                </a:solidFill>
                <a:latin typeface="Calibri"/>
              </a:defRPr>
            </a:pPr>
            <a:endParaRPr lang="en-US"/>
          </a:p>
        </c:txPr>
        <c:crossAx val="2094734554"/>
        <c:crosses val="autoZero"/>
        <c:crossBetween val="between"/>
        <c:majorUnit val="3"/>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Defect or missing statement</c:v>
                </c:pt>
              </c:strCache>
            </c:strRef>
          </c:tx>
          <c:spPr>
            <a:solidFill>
              <a:srgbClr val="16181B"/>
            </a:solidFill>
            <a:effectLst/>
          </c:spPr>
          <c:invertIfNegative val="0"/>
          <c:dLbls>
            <c:numFmt formatCode="0;\-0;;" sourceLinked="0"/>
            <c:spPr>
              <a:noFill/>
              <a:ln>
                <a:noFill/>
              </a:ln>
              <a:effectLst/>
            </c:spPr>
            <c:txPr>
              <a:bodyPr/>
              <a:lstStyle/>
              <a:p>
                <a:pPr>
                  <a:defRPr sz="11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Dome review (10)</c:v>
                </c:pt>
                <c:pt idx="1">
                  <c:v>Hashin, progressive (12)</c:v>
                </c:pt>
              </c:strCache>
            </c:strRef>
          </c:cat>
          <c:val>
            <c:numRef>
              <c:f>Sheet1!$B$2:$B$3</c:f>
              <c:numCache>
                <c:formatCode>General</c:formatCode>
                <c:ptCount val="2"/>
                <c:pt idx="0">
                  <c:v>2</c:v>
                </c:pt>
                <c:pt idx="1">
                  <c:v>3</c:v>
                </c:pt>
              </c:numCache>
            </c:numRef>
          </c:val>
          <c:extLst>
            <c:ext xmlns:c16="http://schemas.microsoft.com/office/drawing/2014/chart" uri="{C3380CC4-5D6E-409C-BE32-E72D297353CC}">
              <c16:uniqueId val="{00000000-BF6E-461B-8C1E-FF182178386C}"/>
            </c:ext>
          </c:extLst>
        </c:ser>
        <c:ser>
          <c:idx val="1"/>
          <c:order val="1"/>
          <c:tx>
            <c:strRef>
              <c:f>Sheet1!$C$1</c:f>
              <c:strCache>
                <c:ptCount val="1"/>
                <c:pt idx="0">
                  <c:v>Wording too strong</c:v>
                </c:pt>
              </c:strCache>
            </c:strRef>
          </c:tx>
          <c:spPr>
            <a:solidFill>
              <a:srgbClr val="6B6F76"/>
            </a:solidFill>
            <a:effectLst/>
          </c:spPr>
          <c:invertIfNegative val="0"/>
          <c:dLbls>
            <c:numFmt formatCode="0;\-0;;" sourceLinked="0"/>
            <c:spPr>
              <a:noFill/>
              <a:ln>
                <a:noFill/>
              </a:ln>
              <a:effectLst/>
            </c:spPr>
            <c:txPr>
              <a:bodyPr/>
              <a:lstStyle/>
              <a:p>
                <a:pPr>
                  <a:defRPr sz="11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Dome review (10)</c:v>
                </c:pt>
                <c:pt idx="1">
                  <c:v>Hashin, progressive (12)</c:v>
                </c:pt>
              </c:strCache>
            </c:strRef>
          </c:cat>
          <c:val>
            <c:numRef>
              <c:f>Sheet1!$C$2:$C$3</c:f>
              <c:numCache>
                <c:formatCode>General</c:formatCode>
                <c:ptCount val="2"/>
                <c:pt idx="0">
                  <c:v>1</c:v>
                </c:pt>
                <c:pt idx="1">
                  <c:v>6</c:v>
                </c:pt>
              </c:numCache>
            </c:numRef>
          </c:val>
          <c:extLst>
            <c:ext xmlns:c16="http://schemas.microsoft.com/office/drawing/2014/chart" uri="{C3380CC4-5D6E-409C-BE32-E72D297353CC}">
              <c16:uniqueId val="{00000001-BF6E-461B-8C1E-FF182178386C}"/>
            </c:ext>
          </c:extLst>
        </c:ser>
        <c:ser>
          <c:idx val="2"/>
          <c:order val="2"/>
          <c:tx>
            <c:strRef>
              <c:f>Sheet1!$D$1</c:f>
              <c:strCache>
                <c:ptCount val="1"/>
                <c:pt idx="0">
                  <c:v>Partly confirmed</c:v>
                </c:pt>
              </c:strCache>
            </c:strRef>
          </c:tx>
          <c:spPr>
            <a:solidFill>
              <a:srgbClr val="9DA2A8"/>
            </a:solidFill>
            <a:effectLst/>
          </c:spPr>
          <c:invertIfNegative val="0"/>
          <c:dLbls>
            <c:numFmt formatCode="0;\-0;;" sourceLinked="0"/>
            <c:spPr>
              <a:noFill/>
              <a:ln>
                <a:noFill/>
              </a:ln>
              <a:effectLst/>
            </c:spPr>
            <c:txPr>
              <a:bodyPr/>
              <a:lstStyle/>
              <a:p>
                <a:pPr>
                  <a:defRPr sz="11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Dome review (10)</c:v>
                </c:pt>
                <c:pt idx="1">
                  <c:v>Hashin, progressive (12)</c:v>
                </c:pt>
              </c:strCache>
            </c:strRef>
          </c:cat>
          <c:val>
            <c:numRef>
              <c:f>Sheet1!$D$2:$D$3</c:f>
              <c:numCache>
                <c:formatCode>General</c:formatCode>
                <c:ptCount val="2"/>
                <c:pt idx="0">
                  <c:v>1</c:v>
                </c:pt>
                <c:pt idx="1">
                  <c:v>3</c:v>
                </c:pt>
              </c:numCache>
            </c:numRef>
          </c:val>
          <c:extLst>
            <c:ext xmlns:c16="http://schemas.microsoft.com/office/drawing/2014/chart" uri="{C3380CC4-5D6E-409C-BE32-E72D297353CC}">
              <c16:uniqueId val="{00000002-BF6E-461B-8C1E-FF182178386C}"/>
            </c:ext>
          </c:extLst>
        </c:ser>
        <c:ser>
          <c:idx val="3"/>
          <c:order val="3"/>
          <c:tx>
            <c:strRef>
              <c:f>Sheet1!$E$1</c:f>
              <c:strCache>
                <c:ptCount val="1"/>
                <c:pt idx="0">
                  <c:v>No error found</c:v>
                </c:pt>
              </c:strCache>
            </c:strRef>
          </c:tx>
          <c:spPr>
            <a:solidFill>
              <a:srgbClr val="FF7A29"/>
            </a:solidFill>
            <a:effectLst/>
          </c:spPr>
          <c:invertIfNegative val="0"/>
          <c:dLbls>
            <c:numFmt formatCode="0;\-0;;" sourceLinked="0"/>
            <c:spPr>
              <a:noFill/>
              <a:ln>
                <a:noFill/>
              </a:ln>
              <a:effectLst/>
            </c:spPr>
            <c:txPr>
              <a:bodyPr/>
              <a:lstStyle/>
              <a:p>
                <a:pPr>
                  <a:defRPr sz="1100" b="0" i="0" u="none" strike="noStrike">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Dome review (10)</c:v>
                </c:pt>
                <c:pt idx="1">
                  <c:v>Hashin, progressive (12)</c:v>
                </c:pt>
              </c:strCache>
            </c:strRef>
          </c:cat>
          <c:val>
            <c:numRef>
              <c:f>Sheet1!$E$2:$E$3</c:f>
              <c:numCache>
                <c:formatCode>General</c:formatCode>
                <c:ptCount val="2"/>
                <c:pt idx="0">
                  <c:v>6</c:v>
                </c:pt>
                <c:pt idx="1">
                  <c:v>0</c:v>
                </c:pt>
              </c:numCache>
            </c:numRef>
          </c:val>
          <c:extLst>
            <c:ext xmlns:c16="http://schemas.microsoft.com/office/drawing/2014/chart" uri="{C3380CC4-5D6E-409C-BE32-E72D297353CC}">
              <c16:uniqueId val="{00000003-BF6E-461B-8C1E-FF182178386C}"/>
            </c:ext>
          </c:extLst>
        </c:ser>
        <c:dLbls>
          <c:dLblPos val="ctr"/>
          <c:showLegendKey val="0"/>
          <c:showVal val="1"/>
          <c:showCatName val="0"/>
          <c:showSerName val="0"/>
          <c:showPercent val="0"/>
          <c:showBubbleSize val="0"/>
        </c:dLbls>
        <c:gapWidth val="40"/>
        <c:overlap val="10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181B"/>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solidFill>
          <a:srgbClr val="FFFFFF"/>
        </a:solidFill>
        <a:ln>
          <a:noFill/>
        </a:ln>
        <a:effectLst/>
      </c:spPr>
    </c:plotArea>
    <c:legend>
      <c:legendPos val="b"/>
      <c:overlay val="0"/>
      <c:txPr>
        <a:bodyPr/>
        <a:lstStyle/>
        <a:p>
          <a:pPr>
            <a:defRPr sz="1050">
              <a:solidFill>
                <a:srgbClr val="16181B"/>
              </a:solidFill>
              <a:latin typeface="Calibri"/>
              <a:cs typeface="Calibri"/>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677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the app and that its numbers are checked. The point is not that AI wrote code, but that every stage has a test or a reference. My own contribution is on slide 8.</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the program, how it was built and checked, then one textbook comparison. The central question is on this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boxes left to right. Input is entered once; each model stage has its own tab, so an error can be located. The comparison starts at slide 9. Likely question: does it cover failure? Only stiffness, strain and stress are compared with the textbook; the book prints no strengths.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 turns the stack into stiffness. B = 0 because the stack is symmetric; D11 is about four times D22 because the 0 degree plies are outermost. Conventions are fixed once: SI, engineering shear, angles counter-clockwise.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criteria run on every ply face. Tsai-Wu gives one index and a load factor and no failure mode; Max Stress and Hashin name the mode. The demonstration laminate initiates at 2.76 times the load (Tsai-Wu, ply 4, bottom face). Strengths are cited teaching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cylinder wall under pressure: Nx = pR/2, Ny = pR, netting angle 54.74 degrees. The three bars are three models, not bounds of a burst pressure. The model stop moves from 5.96 to 7.13 MPa with the assumed damage factors, so it is a screening value.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study adds one effect: thermal residual stress, dome stations, a sampled layup search. Each has its limit stated. None has an experimental check.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contribution: the workflow design, the Kaw check by hand and in the app, and the review process (Claude wrote, ChatGPT reviewed, Claude verified each finding by derivation or test). Example of what the review found: netting 5.63 against the exact 4.50 MPa. Be ready to show the hand work for Kaw.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Kaw's example follows the same four steps as the app. Inputs are typed unchanged. B is not zero because the stack is unsymmetric. The book prints no strengths, so this checks stiffness, strain and stress only.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 printed values: 116 non-zero values against half of their last printed digit, 7 zeros by absolute error, 3 ply forces against +-2.5 N/m because the book rounds midpoint stresses before multiplying. Gaps are computed from the full app values (B11: 0.0033568 kN). The largest gap uses 99 percent of its allowance. The percentage gap only shows size, it is not the pass criterion.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30 degrees is shown large; -45 and -60 degrees match the same way. For these three angles the rotation gives the printed matrix; it is one example, not a proof for every angle.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ABD and mid-plane response match the book for this example; the strain and stress tables on the next slide are computed from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table is on p. 9, strain table on p. 8. Book 'Top' is the app's 'Bottom' because z points the other way.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is checked where a reference exists and labelled where none does. Do not quote failure or pressure numbers as predictions. A comparison function for vessel burst tests exists, but its data sources are not verified yet.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composite-laminate-tool.streamlit.app/"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hyperlink" Target="https://composite-laminate-tool.streamlit.app/"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composite-laminate-tool.streamlit.app/"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composite-laminate-tool.streamlit.app/"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composite-laminate-tool.streamlit.app/"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4.png"/><Relationship Id="rId4" Type="http://schemas.openxmlformats.org/officeDocument/2006/relationships/hyperlink" Target="https://composite-laminate-tool.streamlit.app/"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composite-laminate-tool.streamlit.app/"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hyperlink" Target="https://composite-laminate-tool.streamlit.app/"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composite-laminate-tool.streamlit.app/"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hyperlink" Target="https://composite-laminate-tool.streamlit.app/"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hyperlink" Target="https://composite-laminate-tool.streamlit.app/"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https://github.com/Artyom09062002/composite-laminate-tool" TargetMode="External"/><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composite-laminate-tool.streamlit.app/"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rtyom09062002/composite-laminate-tool"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composite-laminate-tool.streamlit.app/"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composite-laminate-tool.streamlit.app/"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hyperlink" Target="https://github.com/Artyom09062002/composite-laminate-too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B"/>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PROJECT PRESENTATION · 8 OCTOBER 2026</a:t>
            </a:r>
            <a:endParaRPr lang="en-US" sz="1100" dirty="0"/>
          </a:p>
        </p:txBody>
      </p:sp>
      <p:sp>
        <p:nvSpPr>
          <p:cNvPr id="4" name="Shape 1"/>
          <p:cNvSpPr/>
          <p:nvPr/>
        </p:nvSpPr>
        <p:spPr>
          <a:xfrm>
            <a:off x="640080" y="603504"/>
            <a:ext cx="566928" cy="18288"/>
          </a:xfrm>
          <a:prstGeom prst="rect">
            <a:avLst/>
          </a:prstGeom>
          <a:solidFill>
            <a:srgbClr val="FF7A29"/>
          </a:solidFill>
          <a:ln w="12700">
            <a:solidFill>
              <a:srgbClr val="FF7A29"/>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Live application composite-laminate-tool.streamlit.app (start page screenshot)</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1 / 14</a:t>
            </a:r>
            <a:endParaRPr lang="en-US" sz="950" dirty="0"/>
          </a:p>
        </p:txBody>
      </p:sp>
      <p:sp>
        <p:nvSpPr>
          <p:cNvPr id="8" name="Text 5"/>
          <p:cNvSpPr txBox="1"/>
          <p:nvPr/>
        </p:nvSpPr>
        <p:spPr>
          <a:xfrm>
            <a:off x="640080" y="731520"/>
            <a:ext cx="10908792" cy="987552"/>
          </a:xfrm>
          <a:prstGeom prst="rect">
            <a:avLst/>
          </a:prstGeom>
          <a:noFill/>
          <a:ln/>
        </p:spPr>
        <p:txBody>
          <a:bodyPr wrap="square" lIns="0" tIns="0" rIns="0" bIns="0" rtlCol="0" anchor="t"/>
          <a:lstStyle/>
          <a:p>
            <a:pPr marL="0" indent="0" algn="l">
              <a:lnSpc>
                <a:spcPct val="95000"/>
              </a:lnSpc>
              <a:buNone/>
            </a:pPr>
            <a:r>
              <a:rPr lang="en-US" sz="3000" b="1" dirty="0">
                <a:solidFill>
                  <a:srgbClr val="FFFFFF"/>
                </a:solidFill>
                <a:latin typeface="Calibri" pitchFamily="34" charset="0"/>
                <a:ea typeface="Calibri" pitchFamily="34" charset="-122"/>
                <a:cs typeface="Calibri" pitchFamily="34" charset="-120"/>
              </a:rPr>
              <a:t>A composite laminate calculator built with AI: ply data in, stresses and failure loads out, checked against a textbook</a:t>
            </a:r>
            <a:endParaRPr lang="en-US" sz="3000" dirty="0"/>
          </a:p>
        </p:txBody>
      </p:sp>
      <p:sp>
        <p:nvSpPr>
          <p:cNvPr id="9" name="Text 6"/>
          <p:cNvSpPr txBox="1"/>
          <p:nvPr/>
        </p:nvSpPr>
        <p:spPr>
          <a:xfrm>
            <a:off x="640080" y="1719072"/>
            <a:ext cx="10908792" cy="841248"/>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AI-written engineering code is not correct by default, so every stage of this program has a test or a reference.</a:t>
            </a:r>
            <a:endParaRPr lang="en-US" sz="1800" dirty="0"/>
          </a:p>
        </p:txBody>
      </p:sp>
      <p:sp>
        <p:nvSpPr>
          <p:cNvPr id="10" name="Text 7"/>
          <p:cNvSpPr txBox="1"/>
          <p:nvPr/>
        </p:nvSpPr>
        <p:spPr>
          <a:xfrm>
            <a:off x="640080" y="2697480"/>
            <a:ext cx="6309360"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Ply data → failure load</a:t>
            </a:r>
            <a:endParaRPr lang="en-US" sz="2700" dirty="0"/>
          </a:p>
        </p:txBody>
      </p:sp>
      <p:sp>
        <p:nvSpPr>
          <p:cNvPr id="11" name="Text 8"/>
          <p:cNvSpPr txBox="1"/>
          <p:nvPr/>
        </p:nvSpPr>
        <p:spPr>
          <a:xfrm>
            <a:off x="640080" y="3154680"/>
            <a:ext cx="6309360" cy="640080"/>
          </a:xfrm>
          <a:prstGeom prst="rect">
            <a:avLst/>
          </a:prstGeom>
          <a:noFill/>
          <a:ln/>
        </p:spPr>
        <p:txBody>
          <a:bodyPr wrap="square" lIns="0" tIns="0" rIns="0" bIns="0" rtlCol="0" anchor="t"/>
          <a:lstStyle/>
          <a:p>
            <a:pPr marL="0" indent="0" algn="l">
              <a:lnSpc>
                <a:spcPct val="100000"/>
              </a:lnSpc>
              <a:buNone/>
            </a:pPr>
            <a:r>
              <a:rPr lang="en-US" sz="1500" dirty="0">
                <a:solidFill>
                  <a:srgbClr val="D8D6D2"/>
                </a:solidFill>
                <a:latin typeface="Calibri" pitchFamily="34" charset="0"/>
                <a:ea typeface="Calibri" pitchFamily="34" charset="-122"/>
                <a:cs typeface="Calibri" pitchFamily="34" charset="-120"/>
              </a:rPr>
              <a:t>one calculation chain in the browser, so a laminate can be followed stage by stage instead of trusted as a black box</a:t>
            </a:r>
            <a:endParaRPr lang="en-US" sz="1500" dirty="0"/>
          </a:p>
        </p:txBody>
      </p:sp>
      <p:sp>
        <p:nvSpPr>
          <p:cNvPr id="12" name="Text 9"/>
          <p:cNvSpPr txBox="1"/>
          <p:nvPr/>
        </p:nvSpPr>
        <p:spPr>
          <a:xfrm>
            <a:off x="640080" y="3867912"/>
            <a:ext cx="6309360"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175 tests, 2 audits</a:t>
            </a:r>
            <a:endParaRPr lang="en-US" sz="2700" dirty="0"/>
          </a:p>
        </p:txBody>
      </p:sp>
      <p:sp>
        <p:nvSpPr>
          <p:cNvPr id="13" name="Text 10"/>
          <p:cNvSpPr txBox="1"/>
          <p:nvPr/>
        </p:nvSpPr>
        <p:spPr>
          <a:xfrm>
            <a:off x="640080" y="4325112"/>
            <a:ext cx="6309360" cy="640080"/>
          </a:xfrm>
          <a:prstGeom prst="rect">
            <a:avLst/>
          </a:prstGeom>
          <a:noFill/>
          <a:ln/>
        </p:spPr>
        <p:txBody>
          <a:bodyPr wrap="square" lIns="0" tIns="0" rIns="0" bIns="0" rtlCol="0" anchor="t"/>
          <a:lstStyle/>
          <a:p>
            <a:pPr marL="0" indent="0" algn="l">
              <a:lnSpc>
                <a:spcPct val="100000"/>
              </a:lnSpc>
              <a:buNone/>
            </a:pPr>
            <a:r>
              <a:rPr lang="en-US" sz="1500" dirty="0">
                <a:solidFill>
                  <a:srgbClr val="D8D6D2"/>
                </a:solidFill>
                <a:latin typeface="Calibri" pitchFamily="34" charset="0"/>
                <a:ea typeface="Calibri" pitchFamily="34" charset="-122"/>
                <a:cs typeface="Calibri" pitchFamily="34" charset="-120"/>
              </a:rPr>
              <a:t>the AI-written code was independently reviewed and tested: tests, audits and a second AI model found and fixed real errors</a:t>
            </a:r>
            <a:endParaRPr lang="en-US" sz="1500" dirty="0"/>
          </a:p>
        </p:txBody>
      </p:sp>
      <p:sp>
        <p:nvSpPr>
          <p:cNvPr id="14" name="Text 11"/>
          <p:cNvSpPr txBox="1"/>
          <p:nvPr/>
        </p:nvSpPr>
        <p:spPr>
          <a:xfrm>
            <a:off x="640080" y="5038344"/>
            <a:ext cx="6309360"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126 textbook values</a:t>
            </a:r>
            <a:endParaRPr lang="en-US" sz="2700" dirty="0"/>
          </a:p>
        </p:txBody>
      </p:sp>
      <p:sp>
        <p:nvSpPr>
          <p:cNvPr id="15" name="Text 12"/>
          <p:cNvSpPr txBox="1"/>
          <p:nvPr/>
        </p:nvSpPr>
        <p:spPr>
          <a:xfrm>
            <a:off x="640080" y="5495544"/>
            <a:ext cx="6309360" cy="640080"/>
          </a:xfrm>
          <a:prstGeom prst="rect">
            <a:avLst/>
          </a:prstGeom>
          <a:noFill/>
          <a:ln/>
        </p:spPr>
        <p:txBody>
          <a:bodyPr wrap="square" lIns="0" tIns="0" rIns="0" bIns="0" rtlCol="0" anchor="t"/>
          <a:lstStyle/>
          <a:p>
            <a:pPr marL="0" indent="0" algn="l">
              <a:lnSpc>
                <a:spcPct val="100000"/>
              </a:lnSpc>
              <a:buNone/>
            </a:pPr>
            <a:r>
              <a:rPr lang="en-US" sz="1500" dirty="0">
                <a:solidFill>
                  <a:srgbClr val="D8D6D2"/>
                </a:solidFill>
                <a:latin typeface="Calibri" pitchFamily="34" charset="0"/>
                <a:ea typeface="Calibri" pitchFamily="34" charset="-122"/>
                <a:cs typeface="Calibri" pitchFamily="34" charset="-120"/>
              </a:rPr>
              <a:t>one published laminate example compared with the app value by value, each against its source-based tolerance</a:t>
            </a:r>
            <a:endParaRPr lang="en-US" sz="1500" dirty="0"/>
          </a:p>
        </p:txBody>
      </p:sp>
      <p:sp>
        <p:nvSpPr>
          <p:cNvPr id="16" name="Shape 13"/>
          <p:cNvSpPr/>
          <p:nvPr/>
        </p:nvSpPr>
        <p:spPr>
          <a:xfrm>
            <a:off x="7315200" y="2679192"/>
            <a:ext cx="4233672" cy="3447288"/>
          </a:xfrm>
          <a:prstGeom prst="rect">
            <a:avLst/>
          </a:prstGeom>
          <a:solidFill>
            <a:srgbClr val="F4F4F3"/>
          </a:solidFill>
          <a:ln w="12700">
            <a:solidFill>
              <a:srgbClr val="FF7A29"/>
            </a:solidFill>
            <a:prstDash val="solid"/>
          </a:ln>
        </p:spPr>
        <p:txBody>
          <a:bodyPr/>
          <a:lstStyle/>
          <a:p>
            <a:endParaRPr lang="en-US"/>
          </a:p>
        </p:txBody>
      </p:sp>
      <p:pic>
        <p:nvPicPr>
          <p:cNvPr id="17" name="Image 0" descr="Start page of the live application"/>
          <p:cNvPicPr>
            <a:picLocks noChangeAspect="1"/>
          </p:cNvPicPr>
          <p:nvPr/>
        </p:nvPicPr>
        <p:blipFill>
          <a:blip r:embed="rId5"/>
          <a:stretch>
            <a:fillRect/>
          </a:stretch>
        </p:blipFill>
        <p:spPr>
          <a:xfrm>
            <a:off x="7351776" y="2715768"/>
            <a:ext cx="4160520" cy="338732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CONTENTS</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Order: app → calculation → failure and vessel → further studies → AI build → validation → status</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2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The program first, then how the AI-generated code was reviewed and tested, then one check against a textbook</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Each section answers one question about whether the numbers can be used.</a:t>
            </a:r>
            <a:endParaRPr lang="en-US" sz="1800" dirty="0"/>
          </a:p>
        </p:txBody>
      </p:sp>
      <p:sp>
        <p:nvSpPr>
          <p:cNvPr id="10" name="Text 7"/>
          <p:cNvSpPr txBox="1"/>
          <p:nvPr/>
        </p:nvSpPr>
        <p:spPr>
          <a:xfrm>
            <a:off x="640080" y="2331720"/>
            <a:ext cx="5029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01</a:t>
            </a:r>
            <a:endParaRPr lang="en-US" sz="1650" dirty="0"/>
          </a:p>
        </p:txBody>
      </p:sp>
      <p:sp>
        <p:nvSpPr>
          <p:cNvPr id="11" name="Text 8"/>
          <p:cNvSpPr txBox="1"/>
          <p:nvPr/>
        </p:nvSpPr>
        <p:spPr>
          <a:xfrm>
            <a:off x="1188720" y="2331720"/>
            <a:ext cx="30175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The app</a:t>
            </a:r>
            <a:endParaRPr lang="en-US" sz="1650" dirty="0"/>
          </a:p>
        </p:txBody>
      </p:sp>
      <p:sp>
        <p:nvSpPr>
          <p:cNvPr id="12" name="Text 9"/>
          <p:cNvSpPr txBox="1"/>
          <p:nvPr/>
        </p:nvSpPr>
        <p:spPr>
          <a:xfrm>
            <a:off x="4297680" y="2331720"/>
            <a:ext cx="7251192" cy="310896"/>
          </a:xfrm>
          <a:prstGeom prst="rect">
            <a:avLst/>
          </a:prstGeom>
          <a:noFill/>
          <a:ln/>
        </p:spPr>
        <p:txBody>
          <a:bodyPr wrap="square" lIns="0" tIns="0" rIns="0" bIns="0" rtlCol="0" anchor="ctr"/>
          <a:lstStyle/>
          <a:p>
            <a:pPr marL="0" indent="0" algn="l">
              <a:lnSpc>
                <a:spcPct val="100000"/>
              </a:lnSpc>
              <a:buNone/>
            </a:pPr>
            <a:r>
              <a:rPr lang="en-US" sz="1600" dirty="0">
                <a:solidFill>
                  <a:srgbClr val="6B6F76"/>
                </a:solidFill>
                <a:latin typeface="Calibri" pitchFamily="34" charset="0"/>
                <a:ea typeface="Calibri" pitchFamily="34" charset="-122"/>
                <a:cs typeface="Calibri" pitchFamily="34" charset="-120"/>
              </a:rPr>
              <a:t>what goes in, what the model does, what comes out</a:t>
            </a:r>
            <a:endParaRPr lang="en-US" sz="1600" dirty="0"/>
          </a:p>
        </p:txBody>
      </p:sp>
      <p:sp>
        <p:nvSpPr>
          <p:cNvPr id="13" name="Shape 10"/>
          <p:cNvSpPr/>
          <p:nvPr/>
        </p:nvSpPr>
        <p:spPr>
          <a:xfrm>
            <a:off x="640080" y="2697480"/>
            <a:ext cx="10908792" cy="10973"/>
          </a:xfrm>
          <a:prstGeom prst="rect">
            <a:avLst/>
          </a:prstGeom>
          <a:solidFill>
            <a:srgbClr val="D8D6D2"/>
          </a:solidFill>
          <a:ln w="12700">
            <a:solidFill>
              <a:srgbClr val="D8D6D2"/>
            </a:solidFill>
            <a:prstDash val="solid"/>
          </a:ln>
        </p:spPr>
        <p:txBody>
          <a:bodyPr/>
          <a:lstStyle/>
          <a:p>
            <a:endParaRPr lang="en-US"/>
          </a:p>
        </p:txBody>
      </p:sp>
      <p:sp>
        <p:nvSpPr>
          <p:cNvPr id="14" name="Text 11"/>
          <p:cNvSpPr txBox="1"/>
          <p:nvPr/>
        </p:nvSpPr>
        <p:spPr>
          <a:xfrm>
            <a:off x="640080" y="2752344"/>
            <a:ext cx="5029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02</a:t>
            </a:r>
            <a:endParaRPr lang="en-US" sz="1650" dirty="0"/>
          </a:p>
        </p:txBody>
      </p:sp>
      <p:sp>
        <p:nvSpPr>
          <p:cNvPr id="15" name="Text 12"/>
          <p:cNvSpPr txBox="1"/>
          <p:nvPr/>
        </p:nvSpPr>
        <p:spPr>
          <a:xfrm>
            <a:off x="1188720" y="2752344"/>
            <a:ext cx="30175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Calculation chain</a:t>
            </a:r>
            <a:endParaRPr lang="en-US" sz="1650" dirty="0"/>
          </a:p>
        </p:txBody>
      </p:sp>
      <p:sp>
        <p:nvSpPr>
          <p:cNvPr id="16" name="Text 13"/>
          <p:cNvSpPr txBox="1"/>
          <p:nvPr/>
        </p:nvSpPr>
        <p:spPr>
          <a:xfrm>
            <a:off x="4297680" y="2752344"/>
            <a:ext cx="7251192" cy="310896"/>
          </a:xfrm>
          <a:prstGeom prst="rect">
            <a:avLst/>
          </a:prstGeom>
          <a:noFill/>
          <a:ln/>
        </p:spPr>
        <p:txBody>
          <a:bodyPr wrap="square" lIns="0" tIns="0" rIns="0" bIns="0" rtlCol="0" anchor="ctr"/>
          <a:lstStyle/>
          <a:p>
            <a:pPr marL="0" indent="0" algn="l">
              <a:lnSpc>
                <a:spcPct val="100000"/>
              </a:lnSpc>
              <a:buNone/>
            </a:pPr>
            <a:r>
              <a:rPr lang="en-US" sz="1600" dirty="0">
                <a:solidFill>
                  <a:srgbClr val="6B6F76"/>
                </a:solidFill>
                <a:latin typeface="Calibri" pitchFamily="34" charset="0"/>
                <a:ea typeface="Calibri" pitchFamily="34" charset="-122"/>
                <a:cs typeface="Calibri" pitchFamily="34" charset="-120"/>
              </a:rPr>
              <a:t>how a stacking sequence becomes laminate stiffness</a:t>
            </a:r>
            <a:endParaRPr lang="en-US" sz="1600" dirty="0"/>
          </a:p>
        </p:txBody>
      </p:sp>
      <p:sp>
        <p:nvSpPr>
          <p:cNvPr id="17" name="Shape 14"/>
          <p:cNvSpPr/>
          <p:nvPr/>
        </p:nvSpPr>
        <p:spPr>
          <a:xfrm>
            <a:off x="640080" y="3118104"/>
            <a:ext cx="10908792" cy="10973"/>
          </a:xfrm>
          <a:prstGeom prst="rect">
            <a:avLst/>
          </a:prstGeom>
          <a:solidFill>
            <a:srgbClr val="D8D6D2"/>
          </a:solidFill>
          <a:ln w="12700">
            <a:solidFill>
              <a:srgbClr val="D8D6D2"/>
            </a:solidFill>
            <a:prstDash val="solid"/>
          </a:ln>
        </p:spPr>
        <p:txBody>
          <a:bodyPr/>
          <a:lstStyle/>
          <a:p>
            <a:endParaRPr lang="en-US"/>
          </a:p>
        </p:txBody>
      </p:sp>
      <p:sp>
        <p:nvSpPr>
          <p:cNvPr id="18" name="Text 15"/>
          <p:cNvSpPr txBox="1"/>
          <p:nvPr/>
        </p:nvSpPr>
        <p:spPr>
          <a:xfrm>
            <a:off x="640080" y="3172968"/>
            <a:ext cx="5029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03</a:t>
            </a:r>
            <a:endParaRPr lang="en-US" sz="1650" dirty="0"/>
          </a:p>
        </p:txBody>
      </p:sp>
      <p:sp>
        <p:nvSpPr>
          <p:cNvPr id="19" name="Text 16"/>
          <p:cNvSpPr txBox="1"/>
          <p:nvPr/>
        </p:nvSpPr>
        <p:spPr>
          <a:xfrm>
            <a:off x="1188720" y="3172968"/>
            <a:ext cx="30175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Failure and pressure vessel</a:t>
            </a:r>
            <a:endParaRPr lang="en-US" sz="1650" dirty="0"/>
          </a:p>
        </p:txBody>
      </p:sp>
      <p:sp>
        <p:nvSpPr>
          <p:cNvPr id="20" name="Text 17"/>
          <p:cNvSpPr txBox="1"/>
          <p:nvPr/>
        </p:nvSpPr>
        <p:spPr>
          <a:xfrm>
            <a:off x="4297680" y="3172968"/>
            <a:ext cx="7251192" cy="310896"/>
          </a:xfrm>
          <a:prstGeom prst="rect">
            <a:avLst/>
          </a:prstGeom>
          <a:noFill/>
          <a:ln/>
        </p:spPr>
        <p:txBody>
          <a:bodyPr wrap="square" lIns="0" tIns="0" rIns="0" bIns="0" rtlCol="0" anchor="ctr"/>
          <a:lstStyle/>
          <a:p>
            <a:pPr marL="0" indent="0" algn="l">
              <a:lnSpc>
                <a:spcPct val="100000"/>
              </a:lnSpc>
              <a:buNone/>
            </a:pPr>
            <a:r>
              <a:rPr lang="en-US" sz="1600" dirty="0">
                <a:solidFill>
                  <a:srgbClr val="6B6F76"/>
                </a:solidFill>
                <a:latin typeface="Calibri" pitchFamily="34" charset="0"/>
                <a:ea typeface="Calibri" pitchFamily="34" charset="-122"/>
                <a:cs typeface="Calibri" pitchFamily="34" charset="-120"/>
              </a:rPr>
              <a:t>when a ply fails, and what a cylinder wall can carry</a:t>
            </a:r>
            <a:endParaRPr lang="en-US" sz="1600" dirty="0"/>
          </a:p>
        </p:txBody>
      </p:sp>
      <p:sp>
        <p:nvSpPr>
          <p:cNvPr id="21" name="Shape 18"/>
          <p:cNvSpPr/>
          <p:nvPr/>
        </p:nvSpPr>
        <p:spPr>
          <a:xfrm>
            <a:off x="640080" y="3538728"/>
            <a:ext cx="10908792" cy="10973"/>
          </a:xfrm>
          <a:prstGeom prst="rect">
            <a:avLst/>
          </a:prstGeom>
          <a:solidFill>
            <a:srgbClr val="D8D6D2"/>
          </a:solidFill>
          <a:ln w="12700">
            <a:solidFill>
              <a:srgbClr val="D8D6D2"/>
            </a:solidFill>
            <a:prstDash val="solid"/>
          </a:ln>
        </p:spPr>
        <p:txBody>
          <a:bodyPr/>
          <a:lstStyle/>
          <a:p>
            <a:endParaRPr lang="en-US"/>
          </a:p>
        </p:txBody>
      </p:sp>
      <p:sp>
        <p:nvSpPr>
          <p:cNvPr id="22" name="Text 19"/>
          <p:cNvSpPr txBox="1"/>
          <p:nvPr/>
        </p:nvSpPr>
        <p:spPr>
          <a:xfrm>
            <a:off x="640080" y="3593592"/>
            <a:ext cx="5029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04</a:t>
            </a:r>
            <a:endParaRPr lang="en-US" sz="1650" dirty="0"/>
          </a:p>
        </p:txBody>
      </p:sp>
      <p:sp>
        <p:nvSpPr>
          <p:cNvPr id="23" name="Text 20"/>
          <p:cNvSpPr txBox="1"/>
          <p:nvPr/>
        </p:nvSpPr>
        <p:spPr>
          <a:xfrm>
            <a:off x="1188720" y="3593592"/>
            <a:ext cx="30175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Further studies</a:t>
            </a:r>
            <a:endParaRPr lang="en-US" sz="1650" dirty="0"/>
          </a:p>
        </p:txBody>
      </p:sp>
      <p:sp>
        <p:nvSpPr>
          <p:cNvPr id="24" name="Text 21"/>
          <p:cNvSpPr txBox="1"/>
          <p:nvPr/>
        </p:nvSpPr>
        <p:spPr>
          <a:xfrm>
            <a:off x="4297680" y="3593592"/>
            <a:ext cx="7251192" cy="310896"/>
          </a:xfrm>
          <a:prstGeom prst="rect">
            <a:avLst/>
          </a:prstGeom>
          <a:noFill/>
          <a:ln/>
        </p:spPr>
        <p:txBody>
          <a:bodyPr wrap="square" lIns="0" tIns="0" rIns="0" bIns="0" rtlCol="0" anchor="ctr"/>
          <a:lstStyle/>
          <a:p>
            <a:pPr marL="0" indent="0" algn="l">
              <a:lnSpc>
                <a:spcPct val="100000"/>
              </a:lnSpc>
              <a:buNone/>
            </a:pPr>
            <a:r>
              <a:rPr lang="en-US" sz="1600" dirty="0">
                <a:solidFill>
                  <a:srgbClr val="6B6F76"/>
                </a:solidFill>
                <a:latin typeface="Calibri" pitchFamily="34" charset="0"/>
                <a:ea typeface="Calibri" pitchFamily="34" charset="-122"/>
                <a:cs typeface="Calibri" pitchFamily="34" charset="-120"/>
              </a:rPr>
              <a:t>thermal stress, dome winding and a layup search</a:t>
            </a:r>
            <a:endParaRPr lang="en-US" sz="1600" dirty="0"/>
          </a:p>
        </p:txBody>
      </p:sp>
      <p:sp>
        <p:nvSpPr>
          <p:cNvPr id="25" name="Shape 22"/>
          <p:cNvSpPr/>
          <p:nvPr/>
        </p:nvSpPr>
        <p:spPr>
          <a:xfrm>
            <a:off x="640080" y="3959352"/>
            <a:ext cx="10908792" cy="10973"/>
          </a:xfrm>
          <a:prstGeom prst="rect">
            <a:avLst/>
          </a:prstGeom>
          <a:solidFill>
            <a:srgbClr val="D8D6D2"/>
          </a:solidFill>
          <a:ln w="12700">
            <a:solidFill>
              <a:srgbClr val="D8D6D2"/>
            </a:solidFill>
            <a:prstDash val="solid"/>
          </a:ln>
        </p:spPr>
        <p:txBody>
          <a:bodyPr/>
          <a:lstStyle/>
          <a:p>
            <a:endParaRPr lang="en-US"/>
          </a:p>
        </p:txBody>
      </p:sp>
      <p:sp>
        <p:nvSpPr>
          <p:cNvPr id="26" name="Text 23"/>
          <p:cNvSpPr txBox="1"/>
          <p:nvPr/>
        </p:nvSpPr>
        <p:spPr>
          <a:xfrm>
            <a:off x="640080" y="4014216"/>
            <a:ext cx="5029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05</a:t>
            </a:r>
            <a:endParaRPr lang="en-US" sz="1650" dirty="0"/>
          </a:p>
        </p:txBody>
      </p:sp>
      <p:sp>
        <p:nvSpPr>
          <p:cNvPr id="27" name="Text 24"/>
          <p:cNvSpPr txBox="1"/>
          <p:nvPr/>
        </p:nvSpPr>
        <p:spPr>
          <a:xfrm>
            <a:off x="1188720" y="4014216"/>
            <a:ext cx="30175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Built with AI</a:t>
            </a:r>
            <a:endParaRPr lang="en-US" sz="1650" dirty="0"/>
          </a:p>
        </p:txBody>
      </p:sp>
      <p:sp>
        <p:nvSpPr>
          <p:cNvPr id="28" name="Text 25"/>
          <p:cNvSpPr txBox="1"/>
          <p:nvPr/>
        </p:nvSpPr>
        <p:spPr>
          <a:xfrm>
            <a:off x="4297680" y="4014216"/>
            <a:ext cx="7251192" cy="310896"/>
          </a:xfrm>
          <a:prstGeom prst="rect">
            <a:avLst/>
          </a:prstGeom>
          <a:noFill/>
          <a:ln/>
        </p:spPr>
        <p:txBody>
          <a:bodyPr wrap="square" lIns="0" tIns="0" rIns="0" bIns="0" rtlCol="0" anchor="ctr"/>
          <a:lstStyle/>
          <a:p>
            <a:pPr marL="0" indent="0" algn="l">
              <a:lnSpc>
                <a:spcPct val="100000"/>
              </a:lnSpc>
              <a:buNone/>
            </a:pPr>
            <a:r>
              <a:rPr lang="en-US" sz="1600" dirty="0">
                <a:solidFill>
                  <a:srgbClr val="6B6F76"/>
                </a:solidFill>
                <a:latin typeface="Calibri" pitchFamily="34" charset="0"/>
                <a:ea typeface="Calibri" pitchFamily="34" charset="-122"/>
                <a:cs typeface="Calibri" pitchFamily="34" charset="-120"/>
              </a:rPr>
              <a:t>who wrote what, and how the code was checked</a:t>
            </a:r>
            <a:endParaRPr lang="en-US" sz="1600" dirty="0"/>
          </a:p>
        </p:txBody>
      </p:sp>
      <p:sp>
        <p:nvSpPr>
          <p:cNvPr id="29" name="Shape 26"/>
          <p:cNvSpPr/>
          <p:nvPr/>
        </p:nvSpPr>
        <p:spPr>
          <a:xfrm>
            <a:off x="640080" y="4379976"/>
            <a:ext cx="10908792" cy="10973"/>
          </a:xfrm>
          <a:prstGeom prst="rect">
            <a:avLst/>
          </a:prstGeom>
          <a:solidFill>
            <a:srgbClr val="D8D6D2"/>
          </a:solidFill>
          <a:ln w="12700">
            <a:solidFill>
              <a:srgbClr val="D8D6D2"/>
            </a:solidFill>
            <a:prstDash val="solid"/>
          </a:ln>
        </p:spPr>
        <p:txBody>
          <a:bodyPr/>
          <a:lstStyle/>
          <a:p>
            <a:endParaRPr lang="en-US"/>
          </a:p>
        </p:txBody>
      </p:sp>
      <p:sp>
        <p:nvSpPr>
          <p:cNvPr id="30" name="Text 27"/>
          <p:cNvSpPr txBox="1"/>
          <p:nvPr/>
        </p:nvSpPr>
        <p:spPr>
          <a:xfrm>
            <a:off x="640080" y="4434840"/>
            <a:ext cx="5029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06</a:t>
            </a:r>
            <a:endParaRPr lang="en-US" sz="1650" dirty="0"/>
          </a:p>
        </p:txBody>
      </p:sp>
      <p:sp>
        <p:nvSpPr>
          <p:cNvPr id="31" name="Text 28"/>
          <p:cNvSpPr txBox="1"/>
          <p:nvPr/>
        </p:nvSpPr>
        <p:spPr>
          <a:xfrm>
            <a:off x="1188720" y="4434840"/>
            <a:ext cx="30175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Validation against Kaw</a:t>
            </a:r>
            <a:endParaRPr lang="en-US" sz="1650" dirty="0"/>
          </a:p>
        </p:txBody>
      </p:sp>
      <p:sp>
        <p:nvSpPr>
          <p:cNvPr id="32" name="Text 29"/>
          <p:cNvSpPr txBox="1"/>
          <p:nvPr/>
        </p:nvSpPr>
        <p:spPr>
          <a:xfrm>
            <a:off x="4297680" y="4434840"/>
            <a:ext cx="7251192" cy="310896"/>
          </a:xfrm>
          <a:prstGeom prst="rect">
            <a:avLst/>
          </a:prstGeom>
          <a:noFill/>
          <a:ln/>
        </p:spPr>
        <p:txBody>
          <a:bodyPr wrap="square" lIns="0" tIns="0" rIns="0" bIns="0" rtlCol="0" anchor="ctr"/>
          <a:lstStyle/>
          <a:p>
            <a:pPr marL="0" indent="0" algn="l">
              <a:lnSpc>
                <a:spcPct val="100000"/>
              </a:lnSpc>
              <a:buNone/>
            </a:pPr>
            <a:r>
              <a:rPr lang="en-US" sz="1600" dirty="0">
                <a:solidFill>
                  <a:srgbClr val="6B6F76"/>
                </a:solidFill>
                <a:latin typeface="Calibri" pitchFamily="34" charset="0"/>
                <a:ea typeface="Calibri" pitchFamily="34" charset="-122"/>
                <a:cs typeface="Calibri" pitchFamily="34" charset="-120"/>
              </a:rPr>
              <a:t>does the app reproduce a published example?</a:t>
            </a:r>
            <a:endParaRPr lang="en-US" sz="1600" dirty="0"/>
          </a:p>
        </p:txBody>
      </p:sp>
      <p:sp>
        <p:nvSpPr>
          <p:cNvPr id="33" name="Shape 30"/>
          <p:cNvSpPr/>
          <p:nvPr/>
        </p:nvSpPr>
        <p:spPr>
          <a:xfrm>
            <a:off x="640080" y="4800600"/>
            <a:ext cx="10908792" cy="10973"/>
          </a:xfrm>
          <a:prstGeom prst="rect">
            <a:avLst/>
          </a:prstGeom>
          <a:solidFill>
            <a:srgbClr val="D8D6D2"/>
          </a:solidFill>
          <a:ln w="12700">
            <a:solidFill>
              <a:srgbClr val="D8D6D2"/>
            </a:solidFill>
            <a:prstDash val="solid"/>
          </a:ln>
        </p:spPr>
        <p:txBody>
          <a:bodyPr/>
          <a:lstStyle/>
          <a:p>
            <a:endParaRPr lang="en-US"/>
          </a:p>
        </p:txBody>
      </p:sp>
      <p:sp>
        <p:nvSpPr>
          <p:cNvPr id="34" name="Text 31"/>
          <p:cNvSpPr txBox="1"/>
          <p:nvPr/>
        </p:nvSpPr>
        <p:spPr>
          <a:xfrm>
            <a:off x="640080" y="4855464"/>
            <a:ext cx="5029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07</a:t>
            </a:r>
            <a:endParaRPr lang="en-US" sz="1650" dirty="0"/>
          </a:p>
        </p:txBody>
      </p:sp>
      <p:sp>
        <p:nvSpPr>
          <p:cNvPr id="35" name="Text 32"/>
          <p:cNvSpPr txBox="1"/>
          <p:nvPr/>
        </p:nvSpPr>
        <p:spPr>
          <a:xfrm>
            <a:off x="1188720" y="4855464"/>
            <a:ext cx="3017520" cy="274320"/>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Status</a:t>
            </a:r>
            <a:endParaRPr lang="en-US" sz="1650" dirty="0"/>
          </a:p>
        </p:txBody>
      </p:sp>
      <p:sp>
        <p:nvSpPr>
          <p:cNvPr id="36" name="Text 33"/>
          <p:cNvSpPr txBox="1"/>
          <p:nvPr/>
        </p:nvSpPr>
        <p:spPr>
          <a:xfrm>
            <a:off x="4297680" y="4855464"/>
            <a:ext cx="7251192" cy="310896"/>
          </a:xfrm>
          <a:prstGeom prst="rect">
            <a:avLst/>
          </a:prstGeom>
          <a:noFill/>
          <a:ln/>
        </p:spPr>
        <p:txBody>
          <a:bodyPr wrap="square" lIns="0" tIns="0" rIns="0" bIns="0" rtlCol="0" anchor="ctr"/>
          <a:lstStyle/>
          <a:p>
            <a:pPr marL="0" indent="0" algn="l">
              <a:lnSpc>
                <a:spcPct val="100000"/>
              </a:lnSpc>
              <a:buNone/>
            </a:pPr>
            <a:r>
              <a:rPr lang="en-US" sz="1600" dirty="0">
                <a:solidFill>
                  <a:srgbClr val="6B6F76"/>
                </a:solidFill>
                <a:latin typeface="Calibri" pitchFamily="34" charset="0"/>
                <a:ea typeface="Calibri" pitchFamily="34" charset="-122"/>
                <a:cs typeface="Calibri" pitchFamily="34" charset="-120"/>
              </a:rPr>
              <a:t>what the numbers can and cannot be used for</a:t>
            </a:r>
            <a:endParaRPr lang="en-US" sz="1600" dirty="0"/>
          </a:p>
        </p:txBody>
      </p:sp>
      <p:sp>
        <p:nvSpPr>
          <p:cNvPr id="37" name="Shape 34"/>
          <p:cNvSpPr/>
          <p:nvPr/>
        </p:nvSpPr>
        <p:spPr>
          <a:xfrm>
            <a:off x="640080" y="5221224"/>
            <a:ext cx="10908792" cy="10973"/>
          </a:xfrm>
          <a:prstGeom prst="rect">
            <a:avLst/>
          </a:prstGeom>
          <a:solidFill>
            <a:srgbClr val="D8D6D2"/>
          </a:solidFill>
          <a:ln w="12700">
            <a:solidFill>
              <a:srgbClr val="D8D6D2"/>
            </a:solidFill>
            <a:prstDash val="solid"/>
          </a:ln>
        </p:spPr>
        <p:txBody>
          <a:bodyPr/>
          <a:lstStyle/>
          <a:p>
            <a:endParaRPr lang="en-US"/>
          </a:p>
        </p:txBody>
      </p:sp>
      <p:sp>
        <p:nvSpPr>
          <p:cNvPr id="38" name="Shape 35"/>
          <p:cNvSpPr/>
          <p:nvPr/>
        </p:nvSpPr>
        <p:spPr>
          <a:xfrm>
            <a:off x="640080" y="5486400"/>
            <a:ext cx="10908792" cy="603504"/>
          </a:xfrm>
          <a:prstGeom prst="rect">
            <a:avLst/>
          </a:prstGeom>
          <a:solidFill>
            <a:srgbClr val="16181B"/>
          </a:solidFill>
          <a:ln w="12700">
            <a:solidFill>
              <a:srgbClr val="16181B"/>
            </a:solidFill>
            <a:prstDash val="solid"/>
          </a:ln>
        </p:spPr>
        <p:txBody>
          <a:bodyPr/>
          <a:lstStyle/>
          <a:p>
            <a:endParaRPr lang="en-US"/>
          </a:p>
        </p:txBody>
      </p:sp>
      <p:sp>
        <p:nvSpPr>
          <p:cNvPr id="39" name="Text 36"/>
          <p:cNvSpPr txBox="1"/>
          <p:nvPr/>
        </p:nvSpPr>
        <p:spPr>
          <a:xfrm>
            <a:off x="859536" y="5486400"/>
            <a:ext cx="10469880" cy="603504"/>
          </a:xfrm>
          <a:prstGeom prst="rect">
            <a:avLst/>
          </a:prstGeom>
          <a:noFill/>
          <a:ln/>
        </p:spPr>
        <p:txBody>
          <a:bodyPr wrap="square" lIns="0" tIns="0" rIns="0" bIns="0" rtlCol="0" anchor="ctr"/>
          <a:lstStyle/>
          <a:p>
            <a:pPr marL="0" indent="0" algn="l">
              <a:lnSpc>
                <a:spcPct val="100000"/>
              </a:lnSpc>
              <a:buNone/>
            </a:pPr>
            <a:r>
              <a:rPr lang="en-US" sz="1600" b="1" dirty="0">
                <a:solidFill>
                  <a:srgbClr val="FF7A29"/>
                </a:solidFill>
                <a:latin typeface="Calibri" pitchFamily="34" charset="0"/>
                <a:ea typeface="Calibri" pitchFamily="34" charset="-122"/>
                <a:cs typeface="Calibri" pitchFamily="34" charset="-120"/>
              </a:rPr>
              <a:t>Central question:  What does the app calculate, and how far can its numbers be trusted?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01 · THE APP · WORKFLOW</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Kaw, worked example §4.3 · live application</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3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Input → model → output → comparison: one app takes ply data to failure loads, and a textbook example is the reference</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Each step has its own place in the app, so a wrong number can be traced to the step that produced it.</a:t>
            </a:r>
            <a:endParaRPr lang="en-US" sz="1800" dirty="0"/>
          </a:p>
        </p:txBody>
      </p:sp>
      <p:sp>
        <p:nvSpPr>
          <p:cNvPr id="10" name="Text 7"/>
          <p:cNvSpPr txBox="1"/>
          <p:nvPr/>
        </p:nvSpPr>
        <p:spPr>
          <a:xfrm>
            <a:off x="640080" y="2395728"/>
            <a:ext cx="251460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1  </a:t>
            </a:r>
            <a:r>
              <a:rPr lang="en-US" sz="1650" b="1" dirty="0">
                <a:solidFill>
                  <a:srgbClr val="16181B"/>
                </a:solidFill>
                <a:latin typeface="Calibri" pitchFamily="34" charset="0"/>
                <a:ea typeface="Calibri" pitchFamily="34" charset="-122"/>
                <a:cs typeface="Calibri" pitchFamily="34" charset="-120"/>
              </a:rPr>
              <a:t>Input</a:t>
            </a:r>
            <a:endParaRPr lang="en-US" sz="1650" dirty="0"/>
          </a:p>
        </p:txBody>
      </p:sp>
      <p:sp>
        <p:nvSpPr>
          <p:cNvPr id="11" name="Shape 8"/>
          <p:cNvSpPr/>
          <p:nvPr/>
        </p:nvSpPr>
        <p:spPr>
          <a:xfrm>
            <a:off x="640080" y="2724912"/>
            <a:ext cx="2514600" cy="18288"/>
          </a:xfrm>
          <a:prstGeom prst="rect">
            <a:avLst/>
          </a:prstGeom>
          <a:solidFill>
            <a:srgbClr val="16181B"/>
          </a:solidFill>
          <a:ln w="12700">
            <a:solidFill>
              <a:srgbClr val="16181B"/>
            </a:solidFill>
            <a:prstDash val="solid"/>
          </a:ln>
        </p:spPr>
        <p:txBody>
          <a:bodyPr/>
          <a:lstStyle/>
          <a:p>
            <a:endParaRPr lang="en-US"/>
          </a:p>
        </p:txBody>
      </p:sp>
      <p:sp>
        <p:nvSpPr>
          <p:cNvPr id="12" name="Text 9"/>
          <p:cNvSpPr txBox="1"/>
          <p:nvPr/>
        </p:nvSpPr>
        <p:spPr>
          <a:xfrm>
            <a:off x="640080" y="2834640"/>
            <a:ext cx="2514600" cy="1554480"/>
          </a:xfrm>
          <a:prstGeom prst="rect">
            <a:avLst/>
          </a:prstGeom>
          <a:noFill/>
          <a:ln/>
        </p:spPr>
        <p:txBody>
          <a:bodyPr wrap="square" lIns="0" tIns="0" rIns="0" bIns="0" rtlCol="0" anchor="t"/>
          <a:lstStyle/>
          <a:p>
            <a:pPr marL="0" indent="0" algn="l">
              <a:lnSpc>
                <a:spcPct val="100000"/>
              </a:lnSpc>
              <a:buNone/>
            </a:pPr>
            <a:r>
              <a:rPr lang="en-US" sz="1550" dirty="0">
                <a:solidFill>
                  <a:srgbClr val="16181B"/>
                </a:solidFill>
                <a:latin typeface="Calibri" pitchFamily="34" charset="0"/>
                <a:ea typeface="Calibri" pitchFamily="34" charset="-122"/>
                <a:cs typeface="Calibri" pitchFamily="34" charset="-120"/>
              </a:rPr>
              <a:t>Ply stiffness, strengths, thickness, stacking angles and loads or pressure, entered once in the sidebar.</a:t>
            </a:r>
            <a:endParaRPr lang="en-US" sz="1550" dirty="0"/>
          </a:p>
        </p:txBody>
      </p:sp>
      <p:sp>
        <p:nvSpPr>
          <p:cNvPr id="13" name="Text 10"/>
          <p:cNvSpPr txBox="1"/>
          <p:nvPr/>
        </p:nvSpPr>
        <p:spPr>
          <a:xfrm>
            <a:off x="640080" y="4434840"/>
            <a:ext cx="2514600" cy="457200"/>
          </a:xfrm>
          <a:prstGeom prst="rect">
            <a:avLst/>
          </a:prstGeom>
          <a:noFill/>
          <a:ln/>
        </p:spPr>
        <p:txBody>
          <a:bodyPr wrap="square" lIns="0" tIns="0" rIns="0" bIns="0" rtlCol="0" anchor="t"/>
          <a:lstStyle/>
          <a:p>
            <a:pPr marL="0" indent="0" algn="l">
              <a:lnSpc>
                <a:spcPct val="100000"/>
              </a:lnSpc>
              <a:buNone/>
            </a:pPr>
            <a:r>
              <a:rPr lang="en-US" sz="1400" dirty="0">
                <a:solidFill>
                  <a:srgbClr val="6B6F76"/>
                </a:solidFill>
                <a:latin typeface="Calibri" pitchFamily="34" charset="0"/>
                <a:ea typeface="Calibri" pitchFamily="34" charset="-122"/>
                <a:cs typeface="Calibri" pitchFamily="34" charset="-120"/>
              </a:rPr>
              <a:t>so every tab works on the same data</a:t>
            </a:r>
            <a:endParaRPr lang="en-US" sz="1400" dirty="0"/>
          </a:p>
        </p:txBody>
      </p:sp>
      <p:sp>
        <p:nvSpPr>
          <p:cNvPr id="14" name="Text 11"/>
          <p:cNvSpPr txBox="1"/>
          <p:nvPr/>
        </p:nvSpPr>
        <p:spPr>
          <a:xfrm>
            <a:off x="3154680" y="2359152"/>
            <a:ext cx="283464" cy="310896"/>
          </a:xfrm>
          <a:prstGeom prst="rect">
            <a:avLst/>
          </a:prstGeom>
          <a:noFill/>
          <a:ln/>
        </p:spPr>
        <p:txBody>
          <a:bodyPr wrap="square" lIns="0" tIns="0" rIns="0" bIns="0" rtlCol="0" anchor="ctr"/>
          <a:lstStyle/>
          <a:p>
            <a:pPr marL="0" indent="0" algn="ctr">
              <a:lnSpc>
                <a:spcPct val="100000"/>
              </a:lnSpc>
              <a:buNone/>
            </a:pPr>
            <a:r>
              <a:rPr lang="en-US" sz="2000" b="1" dirty="0">
                <a:solidFill>
                  <a:srgbClr val="FF7A29"/>
                </a:solidFill>
                <a:latin typeface="Calibri" pitchFamily="34" charset="0"/>
                <a:ea typeface="Calibri" pitchFamily="34" charset="-122"/>
                <a:cs typeface="Calibri" pitchFamily="34" charset="-120"/>
              </a:rPr>
              <a:t>→</a:t>
            </a:r>
            <a:endParaRPr lang="en-US" sz="2000" dirty="0"/>
          </a:p>
        </p:txBody>
      </p:sp>
      <p:sp>
        <p:nvSpPr>
          <p:cNvPr id="15" name="Text 12"/>
          <p:cNvSpPr txBox="1"/>
          <p:nvPr/>
        </p:nvSpPr>
        <p:spPr>
          <a:xfrm>
            <a:off x="3438144" y="2395728"/>
            <a:ext cx="251460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2  </a:t>
            </a:r>
            <a:r>
              <a:rPr lang="en-US" sz="1650" b="1" dirty="0">
                <a:solidFill>
                  <a:srgbClr val="16181B"/>
                </a:solidFill>
                <a:latin typeface="Calibri" pitchFamily="34" charset="0"/>
                <a:ea typeface="Calibri" pitchFamily="34" charset="-122"/>
                <a:cs typeface="Calibri" pitchFamily="34" charset="-120"/>
              </a:rPr>
              <a:t>Model</a:t>
            </a:r>
            <a:endParaRPr lang="en-US" sz="1650" dirty="0"/>
          </a:p>
        </p:txBody>
      </p:sp>
      <p:sp>
        <p:nvSpPr>
          <p:cNvPr id="16" name="Shape 13"/>
          <p:cNvSpPr/>
          <p:nvPr/>
        </p:nvSpPr>
        <p:spPr>
          <a:xfrm>
            <a:off x="3438144" y="2724912"/>
            <a:ext cx="2514600" cy="18288"/>
          </a:xfrm>
          <a:prstGeom prst="rect">
            <a:avLst/>
          </a:prstGeom>
          <a:solidFill>
            <a:srgbClr val="16181B"/>
          </a:solidFill>
          <a:ln w="12700">
            <a:solidFill>
              <a:srgbClr val="16181B"/>
            </a:solidFill>
            <a:prstDash val="solid"/>
          </a:ln>
        </p:spPr>
        <p:txBody>
          <a:bodyPr/>
          <a:lstStyle/>
          <a:p>
            <a:endParaRPr lang="en-US"/>
          </a:p>
        </p:txBody>
      </p:sp>
      <p:sp>
        <p:nvSpPr>
          <p:cNvPr id="17" name="Text 14"/>
          <p:cNvSpPr txBox="1"/>
          <p:nvPr/>
        </p:nvSpPr>
        <p:spPr>
          <a:xfrm>
            <a:off x="3438144" y="2834640"/>
            <a:ext cx="2514600" cy="1554480"/>
          </a:xfrm>
          <a:prstGeom prst="rect">
            <a:avLst/>
          </a:prstGeom>
          <a:noFill/>
          <a:ln/>
        </p:spPr>
        <p:txBody>
          <a:bodyPr wrap="square" lIns="0" tIns="0" rIns="0" bIns="0" rtlCol="0" anchor="t"/>
          <a:lstStyle/>
          <a:p>
            <a:pPr marL="0" indent="0" algn="l">
              <a:lnSpc>
                <a:spcPct val="100000"/>
              </a:lnSpc>
              <a:buNone/>
            </a:pPr>
            <a:r>
              <a:rPr lang="en-US" sz="1550" dirty="0">
                <a:solidFill>
                  <a:srgbClr val="16181B"/>
                </a:solidFill>
                <a:latin typeface="Calibri" pitchFamily="34" charset="0"/>
                <a:ea typeface="Calibri" pitchFamily="34" charset="-122"/>
                <a:cs typeface="Calibri" pitchFamily="34" charset="-120"/>
              </a:rPr>
              <a:t>Rotate ply stiffness, sum the plies into A, B, D, solve strain and curvature, recover ply stress, apply the failure criteria.</a:t>
            </a:r>
            <a:endParaRPr lang="en-US" sz="1550" dirty="0"/>
          </a:p>
        </p:txBody>
      </p:sp>
      <p:sp>
        <p:nvSpPr>
          <p:cNvPr id="18" name="Text 15"/>
          <p:cNvSpPr txBox="1"/>
          <p:nvPr/>
        </p:nvSpPr>
        <p:spPr>
          <a:xfrm>
            <a:off x="3438144" y="4434840"/>
            <a:ext cx="2514600" cy="457200"/>
          </a:xfrm>
          <a:prstGeom prst="rect">
            <a:avLst/>
          </a:prstGeom>
          <a:noFill/>
          <a:ln/>
        </p:spPr>
        <p:txBody>
          <a:bodyPr wrap="square" lIns="0" tIns="0" rIns="0" bIns="0" rtlCol="0" anchor="t"/>
          <a:lstStyle/>
          <a:p>
            <a:pPr marL="0" indent="0" algn="l">
              <a:lnSpc>
                <a:spcPct val="100000"/>
              </a:lnSpc>
              <a:buNone/>
            </a:pPr>
            <a:r>
              <a:rPr lang="en-US" sz="1400" dirty="0">
                <a:solidFill>
                  <a:srgbClr val="6B6F76"/>
                </a:solidFill>
                <a:latin typeface="Calibri" pitchFamily="34" charset="0"/>
                <a:ea typeface="Calibri" pitchFamily="34" charset="-122"/>
                <a:cs typeface="Calibri" pitchFamily="34" charset="-120"/>
              </a:rPr>
              <a:t>one tab per stage, so errors can be located</a:t>
            </a:r>
            <a:endParaRPr lang="en-US" sz="1400" dirty="0"/>
          </a:p>
        </p:txBody>
      </p:sp>
      <p:sp>
        <p:nvSpPr>
          <p:cNvPr id="19" name="Text 16"/>
          <p:cNvSpPr txBox="1"/>
          <p:nvPr/>
        </p:nvSpPr>
        <p:spPr>
          <a:xfrm>
            <a:off x="5952744" y="2359152"/>
            <a:ext cx="283464" cy="310896"/>
          </a:xfrm>
          <a:prstGeom prst="rect">
            <a:avLst/>
          </a:prstGeom>
          <a:noFill/>
          <a:ln/>
        </p:spPr>
        <p:txBody>
          <a:bodyPr wrap="square" lIns="0" tIns="0" rIns="0" bIns="0" rtlCol="0" anchor="ctr"/>
          <a:lstStyle/>
          <a:p>
            <a:pPr marL="0" indent="0" algn="ctr">
              <a:lnSpc>
                <a:spcPct val="100000"/>
              </a:lnSpc>
              <a:buNone/>
            </a:pPr>
            <a:r>
              <a:rPr lang="en-US" sz="2000" b="1" dirty="0">
                <a:solidFill>
                  <a:srgbClr val="FF7A29"/>
                </a:solidFill>
                <a:latin typeface="Calibri" pitchFamily="34" charset="0"/>
                <a:ea typeface="Calibri" pitchFamily="34" charset="-122"/>
                <a:cs typeface="Calibri" pitchFamily="34" charset="-120"/>
              </a:rPr>
              <a:t>→</a:t>
            </a:r>
            <a:endParaRPr lang="en-US" sz="2000" dirty="0"/>
          </a:p>
        </p:txBody>
      </p:sp>
      <p:sp>
        <p:nvSpPr>
          <p:cNvPr id="20" name="Text 17"/>
          <p:cNvSpPr txBox="1"/>
          <p:nvPr/>
        </p:nvSpPr>
        <p:spPr>
          <a:xfrm>
            <a:off x="6236208" y="2395728"/>
            <a:ext cx="251460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3  </a:t>
            </a:r>
            <a:r>
              <a:rPr lang="en-US" sz="1650" b="1" dirty="0">
                <a:solidFill>
                  <a:srgbClr val="16181B"/>
                </a:solidFill>
                <a:latin typeface="Calibri" pitchFamily="34" charset="0"/>
                <a:ea typeface="Calibri" pitchFamily="34" charset="-122"/>
                <a:cs typeface="Calibri" pitchFamily="34" charset="-120"/>
              </a:rPr>
              <a:t>Output</a:t>
            </a:r>
            <a:endParaRPr lang="en-US" sz="1650" dirty="0"/>
          </a:p>
        </p:txBody>
      </p:sp>
      <p:sp>
        <p:nvSpPr>
          <p:cNvPr id="21" name="Shape 18"/>
          <p:cNvSpPr/>
          <p:nvPr/>
        </p:nvSpPr>
        <p:spPr>
          <a:xfrm>
            <a:off x="6236208" y="2724912"/>
            <a:ext cx="2514600" cy="18288"/>
          </a:xfrm>
          <a:prstGeom prst="rect">
            <a:avLst/>
          </a:prstGeom>
          <a:solidFill>
            <a:srgbClr val="16181B"/>
          </a:solidFill>
          <a:ln w="12700">
            <a:solidFill>
              <a:srgbClr val="16181B"/>
            </a:solidFill>
            <a:prstDash val="solid"/>
          </a:ln>
        </p:spPr>
        <p:txBody>
          <a:bodyPr/>
          <a:lstStyle/>
          <a:p>
            <a:endParaRPr lang="en-US"/>
          </a:p>
        </p:txBody>
      </p:sp>
      <p:sp>
        <p:nvSpPr>
          <p:cNvPr id="22" name="Text 19"/>
          <p:cNvSpPr txBox="1"/>
          <p:nvPr/>
        </p:nvSpPr>
        <p:spPr>
          <a:xfrm>
            <a:off x="6236208" y="2834640"/>
            <a:ext cx="2514600" cy="1554480"/>
          </a:xfrm>
          <a:prstGeom prst="rect">
            <a:avLst/>
          </a:prstGeom>
          <a:noFill/>
          <a:ln/>
        </p:spPr>
        <p:txBody>
          <a:bodyPr wrap="square" lIns="0" tIns="0" rIns="0" bIns="0" rtlCol="0" anchor="t"/>
          <a:lstStyle/>
          <a:p>
            <a:pPr marL="0" indent="0" algn="l">
              <a:lnSpc>
                <a:spcPct val="100000"/>
              </a:lnSpc>
              <a:buNone/>
            </a:pPr>
            <a:r>
              <a:rPr lang="en-US" sz="1550" dirty="0">
                <a:solidFill>
                  <a:srgbClr val="16181B"/>
                </a:solidFill>
                <a:latin typeface="Calibri" pitchFamily="34" charset="0"/>
                <a:ea typeface="Calibri" pitchFamily="34" charset="-122"/>
                <a:cs typeface="Calibri" pitchFamily="34" charset="-120"/>
              </a:rPr>
              <a:t>Stiffness matrices, stress at every ply face, load factor to first failure, cylinder pressures and a PDF report.</a:t>
            </a:r>
            <a:endParaRPr lang="en-US" sz="1550" dirty="0"/>
          </a:p>
        </p:txBody>
      </p:sp>
      <p:sp>
        <p:nvSpPr>
          <p:cNvPr id="23" name="Text 20"/>
          <p:cNvSpPr txBox="1"/>
          <p:nvPr/>
        </p:nvSpPr>
        <p:spPr>
          <a:xfrm>
            <a:off x="6236208" y="4434840"/>
            <a:ext cx="2514600" cy="457200"/>
          </a:xfrm>
          <a:prstGeom prst="rect">
            <a:avLst/>
          </a:prstGeom>
          <a:noFill/>
          <a:ln/>
        </p:spPr>
        <p:txBody>
          <a:bodyPr wrap="square" lIns="0" tIns="0" rIns="0" bIns="0" rtlCol="0" anchor="t"/>
          <a:lstStyle/>
          <a:p>
            <a:pPr marL="0" indent="0" algn="l">
              <a:lnSpc>
                <a:spcPct val="100000"/>
              </a:lnSpc>
              <a:buNone/>
            </a:pPr>
            <a:r>
              <a:rPr lang="en-US" sz="1400" dirty="0">
                <a:solidFill>
                  <a:srgbClr val="6B6F76"/>
                </a:solidFill>
                <a:latin typeface="Calibri" pitchFamily="34" charset="0"/>
                <a:ea typeface="Calibri" pitchFamily="34" charset="-122"/>
                <a:cs typeface="Calibri" pitchFamily="34" charset="-120"/>
              </a:rPr>
              <a:t>each result states its assumption</a:t>
            </a:r>
            <a:endParaRPr lang="en-US" sz="1400" dirty="0"/>
          </a:p>
        </p:txBody>
      </p:sp>
      <p:sp>
        <p:nvSpPr>
          <p:cNvPr id="24" name="Text 21"/>
          <p:cNvSpPr txBox="1"/>
          <p:nvPr/>
        </p:nvSpPr>
        <p:spPr>
          <a:xfrm>
            <a:off x="8750808" y="2359152"/>
            <a:ext cx="283464" cy="310896"/>
          </a:xfrm>
          <a:prstGeom prst="rect">
            <a:avLst/>
          </a:prstGeom>
          <a:noFill/>
          <a:ln/>
        </p:spPr>
        <p:txBody>
          <a:bodyPr wrap="square" lIns="0" tIns="0" rIns="0" bIns="0" rtlCol="0" anchor="ctr"/>
          <a:lstStyle/>
          <a:p>
            <a:pPr marL="0" indent="0" algn="ctr">
              <a:lnSpc>
                <a:spcPct val="100000"/>
              </a:lnSpc>
              <a:buNone/>
            </a:pPr>
            <a:r>
              <a:rPr lang="en-US" sz="2000" b="1" dirty="0">
                <a:solidFill>
                  <a:srgbClr val="FF7A29"/>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9034272" y="2395728"/>
            <a:ext cx="251460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4  </a:t>
            </a:r>
            <a:r>
              <a:rPr lang="en-US" sz="1650" b="1" dirty="0">
                <a:solidFill>
                  <a:srgbClr val="16181B"/>
                </a:solidFill>
                <a:latin typeface="Calibri" pitchFamily="34" charset="0"/>
                <a:ea typeface="Calibri" pitchFamily="34" charset="-122"/>
                <a:cs typeface="Calibri" pitchFamily="34" charset="-120"/>
              </a:rPr>
              <a:t>Comparison</a:t>
            </a:r>
            <a:endParaRPr lang="en-US" sz="1650" dirty="0"/>
          </a:p>
        </p:txBody>
      </p:sp>
      <p:sp>
        <p:nvSpPr>
          <p:cNvPr id="26" name="Shape 23"/>
          <p:cNvSpPr/>
          <p:nvPr/>
        </p:nvSpPr>
        <p:spPr>
          <a:xfrm>
            <a:off x="9034272" y="2724912"/>
            <a:ext cx="2514600" cy="18288"/>
          </a:xfrm>
          <a:prstGeom prst="rect">
            <a:avLst/>
          </a:prstGeom>
          <a:solidFill>
            <a:srgbClr val="16181B"/>
          </a:solidFill>
          <a:ln w="12700">
            <a:solidFill>
              <a:srgbClr val="16181B"/>
            </a:solidFill>
            <a:prstDash val="solid"/>
          </a:ln>
        </p:spPr>
        <p:txBody>
          <a:bodyPr/>
          <a:lstStyle/>
          <a:p>
            <a:endParaRPr lang="en-US"/>
          </a:p>
        </p:txBody>
      </p:sp>
      <p:sp>
        <p:nvSpPr>
          <p:cNvPr id="27" name="Text 24"/>
          <p:cNvSpPr txBox="1"/>
          <p:nvPr/>
        </p:nvSpPr>
        <p:spPr>
          <a:xfrm>
            <a:off x="9034272" y="2834640"/>
            <a:ext cx="2514600" cy="1554480"/>
          </a:xfrm>
          <a:prstGeom prst="rect">
            <a:avLst/>
          </a:prstGeom>
          <a:noFill/>
          <a:ln/>
        </p:spPr>
        <p:txBody>
          <a:bodyPr wrap="square" lIns="0" tIns="0" rIns="0" bIns="0" rtlCol="0" anchor="t"/>
          <a:lstStyle/>
          <a:p>
            <a:pPr marL="0" indent="0" algn="l">
              <a:lnSpc>
                <a:spcPct val="100000"/>
              </a:lnSpc>
              <a:buNone/>
            </a:pPr>
            <a:r>
              <a:rPr lang="en-US" sz="1550" dirty="0">
                <a:solidFill>
                  <a:srgbClr val="16181B"/>
                </a:solidFill>
                <a:latin typeface="Calibri" pitchFamily="34" charset="0"/>
                <a:ea typeface="Calibri" pitchFamily="34" charset="-122"/>
                <a:cs typeface="Calibri" pitchFamily="34" charset="-120"/>
              </a:rPr>
              <a:t>A textbook laminate whose intermediate results are printed, compared value by value; 175 tests on the code.</a:t>
            </a:r>
            <a:endParaRPr lang="en-US" sz="1550" dirty="0"/>
          </a:p>
        </p:txBody>
      </p:sp>
      <p:sp>
        <p:nvSpPr>
          <p:cNvPr id="28" name="Text 25"/>
          <p:cNvSpPr txBox="1"/>
          <p:nvPr/>
        </p:nvSpPr>
        <p:spPr>
          <a:xfrm>
            <a:off x="9034272" y="4434840"/>
            <a:ext cx="2514600" cy="457200"/>
          </a:xfrm>
          <a:prstGeom prst="rect">
            <a:avLst/>
          </a:prstGeom>
          <a:noFill/>
          <a:ln/>
        </p:spPr>
        <p:txBody>
          <a:bodyPr wrap="square" lIns="0" tIns="0" rIns="0" bIns="0" rtlCol="0" anchor="t"/>
          <a:lstStyle/>
          <a:p>
            <a:pPr marL="0" indent="0" algn="l">
              <a:lnSpc>
                <a:spcPct val="100000"/>
              </a:lnSpc>
              <a:buNone/>
            </a:pPr>
            <a:r>
              <a:rPr lang="en-US" sz="1400" dirty="0">
                <a:solidFill>
                  <a:srgbClr val="6B6F76"/>
                </a:solidFill>
                <a:latin typeface="Calibri" pitchFamily="34" charset="0"/>
                <a:ea typeface="Calibri" pitchFamily="34" charset="-122"/>
                <a:cs typeface="Calibri" pitchFamily="34" charset="-120"/>
              </a:rPr>
              <a:t>so the model is tested against known numbers</a:t>
            </a:r>
            <a:endParaRPr lang="en-US" sz="1400" dirty="0"/>
          </a:p>
        </p:txBody>
      </p:sp>
      <p:sp>
        <p:nvSpPr>
          <p:cNvPr id="29" name="Shape 26"/>
          <p:cNvSpPr/>
          <p:nvPr/>
        </p:nvSpPr>
        <p:spPr>
          <a:xfrm>
            <a:off x="640080" y="4937760"/>
            <a:ext cx="10908792" cy="475488"/>
          </a:xfrm>
          <a:prstGeom prst="rect">
            <a:avLst/>
          </a:prstGeom>
          <a:solidFill>
            <a:srgbClr val="FFE2CC"/>
          </a:solidFill>
          <a:ln w="12700">
            <a:solidFill>
              <a:srgbClr val="FFE2CC"/>
            </a:solidFill>
            <a:prstDash val="solid"/>
          </a:ln>
        </p:spPr>
        <p:txBody>
          <a:bodyPr/>
          <a:lstStyle/>
          <a:p>
            <a:endParaRPr lang="en-US"/>
          </a:p>
        </p:txBody>
      </p:sp>
      <p:sp>
        <p:nvSpPr>
          <p:cNvPr id="30" name="Text 27"/>
          <p:cNvSpPr txBox="1"/>
          <p:nvPr/>
        </p:nvSpPr>
        <p:spPr>
          <a:xfrm>
            <a:off x="868680" y="4937760"/>
            <a:ext cx="10451592" cy="475488"/>
          </a:xfrm>
          <a:prstGeom prst="rect">
            <a:avLst/>
          </a:prstGeom>
          <a:noFill/>
          <a:ln/>
        </p:spPr>
        <p:txBody>
          <a:bodyPr wrap="square" lIns="0" tIns="0" rIns="0" bIns="0" rtlCol="0" anchor="ctr"/>
          <a:lstStyle/>
          <a:p>
            <a:pPr marL="0" indent="0" algn="l">
              <a:lnSpc>
                <a:spcPct val="100000"/>
              </a:lnSpc>
              <a:buNone/>
            </a:pPr>
            <a:r>
              <a:rPr lang="en-US" sz="1800" b="1" dirty="0">
                <a:solidFill>
                  <a:srgbClr val="16181B"/>
                </a:solidFill>
                <a:latin typeface="Cambria" pitchFamily="34" charset="0"/>
                <a:ea typeface="Cambria" pitchFamily="34" charset="-122"/>
                <a:cs typeface="Cambria" pitchFamily="34" charset="-120"/>
              </a:rPr>
              <a:t>Q </a:t>
            </a:r>
            <a:r>
              <a:rPr lang="en-US" sz="1800" b="1" dirty="0">
                <a:solidFill>
                  <a:srgbClr val="FF7A29"/>
                </a:solidFill>
                <a:latin typeface="Calibri" pitchFamily="34" charset="0"/>
                <a:ea typeface="Calibri" pitchFamily="34" charset="-122"/>
                <a:cs typeface="Calibri" pitchFamily="34" charset="-120"/>
              </a:rPr>
              <a:t>→</a:t>
            </a:r>
            <a:r>
              <a:rPr lang="en-US" sz="1800" b="1" dirty="0">
                <a:solidFill>
                  <a:srgbClr val="16181B"/>
                </a:solidFill>
                <a:latin typeface="Cambria" pitchFamily="34" charset="0"/>
                <a:ea typeface="Cambria" pitchFamily="34" charset="-122"/>
                <a:cs typeface="Cambria" pitchFamily="34" charset="-120"/>
              </a:rPr>
              <a:t> Q-bar(θ) </a:t>
            </a:r>
            <a:r>
              <a:rPr lang="en-US" sz="1800" b="1" dirty="0">
                <a:solidFill>
                  <a:srgbClr val="FF7A29"/>
                </a:solidFill>
                <a:latin typeface="Calibri" pitchFamily="34" charset="0"/>
                <a:ea typeface="Calibri" pitchFamily="34" charset="-122"/>
                <a:cs typeface="Calibri" pitchFamily="34" charset="-120"/>
              </a:rPr>
              <a:t>→</a:t>
            </a:r>
            <a:r>
              <a:rPr lang="en-US" sz="1800" b="1" dirty="0">
                <a:solidFill>
                  <a:srgbClr val="16181B"/>
                </a:solidFill>
                <a:latin typeface="Cambria" pitchFamily="34" charset="0"/>
                <a:ea typeface="Cambria" pitchFamily="34" charset="-122"/>
                <a:cs typeface="Cambria" pitchFamily="34" charset="-120"/>
              </a:rPr>
              <a:t> A, B, D </a:t>
            </a:r>
            <a:r>
              <a:rPr lang="en-US" sz="1800" b="1" dirty="0">
                <a:solidFill>
                  <a:srgbClr val="FF7A29"/>
                </a:solidFill>
                <a:latin typeface="Calibri" pitchFamily="34" charset="0"/>
                <a:ea typeface="Calibri" pitchFamily="34" charset="-122"/>
                <a:cs typeface="Calibri" pitchFamily="34" charset="-120"/>
              </a:rPr>
              <a:t>→</a:t>
            </a:r>
            <a:r>
              <a:rPr lang="en-US" sz="1800" b="1" dirty="0">
                <a:solidFill>
                  <a:srgbClr val="16181B"/>
                </a:solidFill>
                <a:latin typeface="Cambria" pitchFamily="34" charset="0"/>
                <a:ea typeface="Cambria" pitchFamily="34" charset="-122"/>
                <a:cs typeface="Cambria" pitchFamily="34" charset="-120"/>
              </a:rPr>
              <a:t> ε</a:t>
            </a:r>
            <a:r>
              <a:rPr lang="en-US" sz="1800" b="1" baseline="-40000" dirty="0">
                <a:solidFill>
                  <a:srgbClr val="16181B"/>
                </a:solidFill>
                <a:latin typeface="Cambria" pitchFamily="34" charset="0"/>
                <a:ea typeface="Cambria" pitchFamily="34" charset="-122"/>
                <a:cs typeface="Cambria" pitchFamily="34" charset="-120"/>
              </a:rPr>
              <a:t>0</a:t>
            </a:r>
            <a:r>
              <a:rPr lang="en-US" sz="1800" b="1" dirty="0">
                <a:solidFill>
                  <a:srgbClr val="16181B"/>
                </a:solidFill>
                <a:latin typeface="Cambria" pitchFamily="34" charset="0"/>
                <a:ea typeface="Cambria" pitchFamily="34" charset="-122"/>
                <a:cs typeface="Cambria" pitchFamily="34" charset="-120"/>
              </a:rPr>
              <a:t>, κ </a:t>
            </a:r>
            <a:r>
              <a:rPr lang="en-US" sz="1800" b="1" dirty="0">
                <a:solidFill>
                  <a:srgbClr val="FF7A29"/>
                </a:solidFill>
                <a:latin typeface="Calibri" pitchFamily="34" charset="0"/>
                <a:ea typeface="Calibri" pitchFamily="34" charset="-122"/>
                <a:cs typeface="Calibri" pitchFamily="34" charset="-120"/>
              </a:rPr>
              <a:t>→</a:t>
            </a:r>
            <a:r>
              <a:rPr lang="en-US" sz="1800" b="1" dirty="0">
                <a:solidFill>
                  <a:srgbClr val="16181B"/>
                </a:solidFill>
                <a:latin typeface="Cambria" pitchFamily="34" charset="0"/>
                <a:ea typeface="Cambria" pitchFamily="34" charset="-122"/>
                <a:cs typeface="Cambria" pitchFamily="34" charset="-120"/>
              </a:rPr>
              <a:t> ε(z) = ε</a:t>
            </a:r>
            <a:r>
              <a:rPr lang="en-US" sz="1800" b="1" baseline="-40000" dirty="0">
                <a:solidFill>
                  <a:srgbClr val="16181B"/>
                </a:solidFill>
                <a:latin typeface="Cambria" pitchFamily="34" charset="0"/>
                <a:ea typeface="Cambria" pitchFamily="34" charset="-122"/>
                <a:cs typeface="Cambria" pitchFamily="34" charset="-120"/>
              </a:rPr>
              <a:t>0</a:t>
            </a:r>
            <a:r>
              <a:rPr lang="en-US" sz="1800" b="1" dirty="0">
                <a:solidFill>
                  <a:srgbClr val="16181B"/>
                </a:solidFill>
                <a:latin typeface="Cambria" pitchFamily="34" charset="0"/>
                <a:ea typeface="Cambria" pitchFamily="34" charset="-122"/>
                <a:cs typeface="Cambria" pitchFamily="34" charset="-120"/>
              </a:rPr>
              <a:t> + z·κ </a:t>
            </a:r>
            <a:r>
              <a:rPr lang="en-US" sz="1800" b="1" dirty="0">
                <a:solidFill>
                  <a:srgbClr val="FF7A29"/>
                </a:solidFill>
                <a:latin typeface="Calibri" pitchFamily="34" charset="0"/>
                <a:ea typeface="Calibri" pitchFamily="34" charset="-122"/>
                <a:cs typeface="Calibri" pitchFamily="34" charset="-120"/>
              </a:rPr>
              <a:t>→</a:t>
            </a:r>
            <a:r>
              <a:rPr lang="en-US" sz="1800" b="1" dirty="0">
                <a:solidFill>
                  <a:srgbClr val="16181B"/>
                </a:solidFill>
                <a:latin typeface="Cambria" pitchFamily="34" charset="0"/>
                <a:ea typeface="Cambria" pitchFamily="34" charset="-122"/>
                <a:cs typeface="Cambria" pitchFamily="34" charset="-120"/>
              </a:rPr>
              <a:t> σ = Q-bar(θ)·ε(z) </a:t>
            </a:r>
            <a:r>
              <a:rPr lang="en-US" sz="1800" b="1" dirty="0">
                <a:solidFill>
                  <a:srgbClr val="FF7A29"/>
                </a:solidFill>
                <a:latin typeface="Calibri" pitchFamily="34" charset="0"/>
                <a:ea typeface="Calibri" pitchFamily="34" charset="-122"/>
                <a:cs typeface="Calibri" pitchFamily="34" charset="-120"/>
              </a:rPr>
              <a:t>→</a:t>
            </a:r>
            <a:r>
              <a:rPr lang="en-US" sz="1800" b="1" dirty="0">
                <a:solidFill>
                  <a:srgbClr val="16181B"/>
                </a:solidFill>
                <a:latin typeface="Cambria" pitchFamily="34" charset="0"/>
                <a:ea typeface="Cambria" pitchFamily="34" charset="-122"/>
                <a:cs typeface="Cambria" pitchFamily="34" charset="-120"/>
              </a:rPr>
              <a:t> failure index</a:t>
            </a:r>
            <a:endParaRPr lang="en-US" sz="1600" dirty="0"/>
          </a:p>
        </p:txBody>
      </p:sp>
      <p:sp>
        <p:nvSpPr>
          <p:cNvPr id="31" name="Shape 28"/>
          <p:cNvSpPr/>
          <p:nvPr/>
        </p:nvSpPr>
        <p:spPr>
          <a:xfrm>
            <a:off x="640080" y="5522976"/>
            <a:ext cx="10908792" cy="566928"/>
          </a:xfrm>
          <a:prstGeom prst="rect">
            <a:avLst/>
          </a:prstGeom>
          <a:solidFill>
            <a:srgbClr val="16181B"/>
          </a:solidFill>
          <a:ln w="12700">
            <a:solidFill>
              <a:srgbClr val="16181B"/>
            </a:solidFill>
            <a:prstDash val="solid"/>
          </a:ln>
        </p:spPr>
        <p:txBody>
          <a:bodyPr/>
          <a:lstStyle/>
          <a:p>
            <a:endParaRPr lang="en-US"/>
          </a:p>
        </p:txBody>
      </p:sp>
      <p:sp>
        <p:nvSpPr>
          <p:cNvPr id="32" name="Text 29"/>
          <p:cNvSpPr txBox="1"/>
          <p:nvPr/>
        </p:nvSpPr>
        <p:spPr>
          <a:xfrm>
            <a:off x="859536" y="5522976"/>
            <a:ext cx="10469880" cy="566928"/>
          </a:xfrm>
          <a:prstGeom prst="rect">
            <a:avLst/>
          </a:prstGeom>
          <a:noFill/>
          <a:ln/>
        </p:spPr>
        <p:txBody>
          <a:bodyPr wrap="square" lIns="0" tIns="0" rIns="0" bIns="0" rtlCol="0" anchor="ctr"/>
          <a:lstStyle/>
          <a:p>
            <a:pPr marL="0" indent="0" algn="l">
              <a:lnSpc>
                <a:spcPct val="100000"/>
              </a:lnSpc>
              <a:buNone/>
            </a:pPr>
            <a:r>
              <a:rPr lang="en-US" sz="1500" b="1" dirty="0">
                <a:solidFill>
                  <a:srgbClr val="FF7A29"/>
                </a:solidFill>
                <a:latin typeface="Calibri" pitchFamily="34" charset="0"/>
                <a:ea typeface="Calibri" pitchFamily="34" charset="-122"/>
                <a:cs typeface="Calibri" pitchFamily="34" charset="-120"/>
              </a:rPr>
              <a:t>Defaults give a working example at once: T300/5208 carbon/epoxy, [0/45/−45/90]s, 8 plies, 1.000 mm.</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02 · CALCULATION CHAIN · ABD TAB</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Live application, tab 3 · ABD, default input</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4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The ABD matrix turns a stack into laminate stiffness: A11 = A22 = 76.37 MN/m, B = 0, D11 about four times D22</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It predicts behaviour: a symmetric stack does not bend when stretched; outer 0° plies stiffen bending along x.</a:t>
            </a:r>
            <a:endParaRPr lang="en-US" sz="1800" dirty="0"/>
          </a:p>
        </p:txBody>
      </p:sp>
      <p:sp>
        <p:nvSpPr>
          <p:cNvPr id="10" name="Text 7"/>
          <p:cNvSpPr txBox="1"/>
          <p:nvPr/>
        </p:nvSpPr>
        <p:spPr>
          <a:xfrm>
            <a:off x="640080" y="2359152"/>
            <a:ext cx="6400800" cy="237744"/>
          </a:xfrm>
          <a:prstGeom prst="rect">
            <a:avLst/>
          </a:prstGeom>
          <a:noFill/>
          <a:ln/>
        </p:spPr>
        <p:txBody>
          <a:bodyPr wrap="square" lIns="0" tIns="0" rIns="0" bIns="0" rtlCol="0" anchor="t"/>
          <a:lstStyle/>
          <a:p>
            <a:pPr marL="0" indent="0" algn="l">
              <a:lnSpc>
                <a:spcPct val="100000"/>
              </a:lnSpc>
              <a:buNone/>
            </a:pPr>
            <a:r>
              <a:rPr lang="en-US" sz="1250" b="1" dirty="0">
                <a:solidFill>
                  <a:srgbClr val="FF7A29"/>
                </a:solidFill>
                <a:latin typeface="Calibri" pitchFamily="34" charset="0"/>
                <a:ea typeface="Calibri" pitchFamily="34" charset="-122"/>
                <a:cs typeface="Calibri" pitchFamily="34" charset="-120"/>
              </a:rPr>
              <a:t>Screenshot of the app, tab 3 · ABD, default laminate [0/45/−45/90]s</a:t>
            </a:r>
            <a:endParaRPr lang="en-US" sz="1250" dirty="0"/>
          </a:p>
        </p:txBody>
      </p:sp>
      <p:sp>
        <p:nvSpPr>
          <p:cNvPr id="11" name="Shape 8"/>
          <p:cNvSpPr/>
          <p:nvPr/>
        </p:nvSpPr>
        <p:spPr>
          <a:xfrm>
            <a:off x="640080" y="2633472"/>
            <a:ext cx="6400800" cy="3273552"/>
          </a:xfrm>
          <a:prstGeom prst="rect">
            <a:avLst/>
          </a:prstGeom>
          <a:solidFill>
            <a:srgbClr val="FFFFFF"/>
          </a:solidFill>
          <a:ln w="9525">
            <a:solidFill>
              <a:srgbClr val="D8D6D2"/>
            </a:solidFill>
            <a:prstDash val="solid"/>
          </a:ln>
        </p:spPr>
        <p:txBody>
          <a:bodyPr/>
          <a:lstStyle/>
          <a:p>
            <a:endParaRPr lang="en-US"/>
          </a:p>
        </p:txBody>
      </p:sp>
      <p:pic>
        <p:nvPicPr>
          <p:cNvPr id="12" name="Image 0" descr="App ABD tab with the three matrices and equivalent constants"/>
          <p:cNvPicPr>
            <a:picLocks noChangeAspect="1"/>
          </p:cNvPicPr>
          <p:nvPr/>
        </p:nvPicPr>
        <p:blipFill>
          <a:blip r:embed="rId5"/>
          <a:stretch>
            <a:fillRect/>
          </a:stretch>
        </p:blipFill>
        <p:spPr>
          <a:xfrm>
            <a:off x="640080" y="2633472"/>
            <a:ext cx="6400800" cy="3271520"/>
          </a:xfrm>
          <a:prstGeom prst="rect">
            <a:avLst/>
          </a:prstGeom>
        </p:spPr>
      </p:pic>
      <p:sp>
        <p:nvSpPr>
          <p:cNvPr id="13" name="Text 9"/>
          <p:cNvSpPr txBox="1"/>
          <p:nvPr/>
        </p:nvSpPr>
        <p:spPr>
          <a:xfrm>
            <a:off x="7406640" y="2359152"/>
            <a:ext cx="4142232" cy="256032"/>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What the numbers tell</a:t>
            </a:r>
            <a:endParaRPr lang="en-US" sz="1650" dirty="0"/>
          </a:p>
        </p:txBody>
      </p:sp>
      <p:sp>
        <p:nvSpPr>
          <p:cNvPr id="14" name="Shape 10"/>
          <p:cNvSpPr/>
          <p:nvPr/>
        </p:nvSpPr>
        <p:spPr>
          <a:xfrm>
            <a:off x="7406640" y="2688336"/>
            <a:ext cx="4142232" cy="18288"/>
          </a:xfrm>
          <a:prstGeom prst="rect">
            <a:avLst/>
          </a:prstGeom>
          <a:solidFill>
            <a:srgbClr val="16181B"/>
          </a:solidFill>
          <a:ln w="12700">
            <a:solidFill>
              <a:srgbClr val="16181B"/>
            </a:solidFill>
            <a:prstDash val="solid"/>
          </a:ln>
        </p:spPr>
        <p:txBody>
          <a:bodyPr/>
          <a:lstStyle/>
          <a:p>
            <a:endParaRPr lang="en-US"/>
          </a:p>
        </p:txBody>
      </p:sp>
      <p:sp>
        <p:nvSpPr>
          <p:cNvPr id="15" name="Text 11"/>
          <p:cNvSpPr txBox="1"/>
          <p:nvPr/>
        </p:nvSpPr>
        <p:spPr>
          <a:xfrm>
            <a:off x="7406640" y="2907792"/>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6" name="Text 12"/>
          <p:cNvSpPr txBox="1"/>
          <p:nvPr/>
        </p:nvSpPr>
        <p:spPr>
          <a:xfrm>
            <a:off x="7662672" y="2834640"/>
            <a:ext cx="3886200" cy="640080"/>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B = 0: stretching does not bend a symmetric stack.</a:t>
            </a:r>
            <a:endParaRPr lang="en-US" sz="1450" dirty="0"/>
          </a:p>
        </p:txBody>
      </p:sp>
      <p:sp>
        <p:nvSpPr>
          <p:cNvPr id="17" name="Text 13"/>
          <p:cNvSpPr txBox="1"/>
          <p:nvPr/>
        </p:nvSpPr>
        <p:spPr>
          <a:xfrm>
            <a:off x="7406640" y="3621024"/>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8" name="Text 14"/>
          <p:cNvSpPr txBox="1"/>
          <p:nvPr/>
        </p:nvSpPr>
        <p:spPr>
          <a:xfrm>
            <a:off x="7662672" y="3547872"/>
            <a:ext cx="3886200" cy="640080"/>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A11 = A22: the same stretch stiffness along x and y.</a:t>
            </a:r>
            <a:endParaRPr lang="en-US" sz="1450" dirty="0"/>
          </a:p>
        </p:txBody>
      </p:sp>
      <p:sp>
        <p:nvSpPr>
          <p:cNvPr id="19" name="Text 15"/>
          <p:cNvSpPr txBox="1"/>
          <p:nvPr/>
        </p:nvSpPr>
        <p:spPr>
          <a:xfrm>
            <a:off x="7406640" y="4334256"/>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20" name="Text 16"/>
          <p:cNvSpPr txBox="1"/>
          <p:nvPr/>
        </p:nvSpPr>
        <p:spPr>
          <a:xfrm>
            <a:off x="7662672" y="4261104"/>
            <a:ext cx="3886200" cy="640080"/>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D11 10.69 against D22 2.65 N·m: bending along x is stiffer.</a:t>
            </a:r>
            <a:endParaRPr lang="en-US" sz="1450" dirty="0"/>
          </a:p>
        </p:txBody>
      </p:sp>
      <p:sp>
        <p:nvSpPr>
          <p:cNvPr id="21" name="Shape 17"/>
          <p:cNvSpPr/>
          <p:nvPr/>
        </p:nvSpPr>
        <p:spPr>
          <a:xfrm>
            <a:off x="7406640" y="5029200"/>
            <a:ext cx="4142232" cy="10973"/>
          </a:xfrm>
          <a:prstGeom prst="rect">
            <a:avLst/>
          </a:prstGeom>
          <a:solidFill>
            <a:srgbClr val="D8D6D2"/>
          </a:solidFill>
          <a:ln w="12700">
            <a:solidFill>
              <a:srgbClr val="D8D6D2"/>
            </a:solidFill>
            <a:prstDash val="solid"/>
          </a:ln>
        </p:spPr>
        <p:txBody>
          <a:bodyPr/>
          <a:lstStyle/>
          <a:p>
            <a:endParaRPr lang="en-US"/>
          </a:p>
        </p:txBody>
      </p:sp>
      <p:sp>
        <p:nvSpPr>
          <p:cNvPr id="22" name="Text 18"/>
          <p:cNvSpPr txBox="1"/>
          <p:nvPr/>
        </p:nvSpPr>
        <p:spPr>
          <a:xfrm>
            <a:off x="7406640" y="5120640"/>
            <a:ext cx="4142232" cy="914400"/>
          </a:xfrm>
          <a:prstGeom prst="rect">
            <a:avLst/>
          </a:prstGeom>
          <a:noFill/>
          <a:ln/>
        </p:spPr>
        <p:txBody>
          <a:bodyPr wrap="square" lIns="0" tIns="0" rIns="0" bIns="0" rtlCol="0" anchor="t"/>
          <a:lstStyle/>
          <a:p>
            <a:pPr marL="0" indent="0" algn="l">
              <a:lnSpc>
                <a:spcPct val="100000"/>
              </a:lnSpc>
              <a:buNone/>
            </a:pPr>
            <a:r>
              <a:rPr lang="en-US" sz="1300" dirty="0">
                <a:solidFill>
                  <a:srgbClr val="6B6F76"/>
                </a:solidFill>
                <a:latin typeface="Calibri" pitchFamily="34" charset="0"/>
                <a:ea typeface="Calibri" pitchFamily="34" charset="-122"/>
                <a:cs typeface="Calibri" pitchFamily="34" charset="-120"/>
              </a:rPr>
              <a:t>Conventions, fixed once so all tabs agree: SI units inside, engineering shear γ = 2ε, angles counter-clockwise, plies listed from the −h/2 face.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03 · FAILURE AND PRESSURE VESSEL · FAILURE TAB</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Live application, tab 5 · Failure · strengths are cited teaching data</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5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Three failure criteria check every ply face; Max Stress and Hashin name the failing mode, Tsai–Wu gives one combined index</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Running all three shows whether the answer depends on the criterion chosen.</a:t>
            </a:r>
            <a:endParaRPr lang="en-US" sz="1800" dirty="0"/>
          </a:p>
        </p:txBody>
      </p:sp>
      <p:sp>
        <p:nvSpPr>
          <p:cNvPr id="10" name="Text 7"/>
          <p:cNvSpPr txBox="1"/>
          <p:nvPr/>
        </p:nvSpPr>
        <p:spPr>
          <a:xfrm>
            <a:off x="640080" y="2359152"/>
            <a:ext cx="6035040" cy="237744"/>
          </a:xfrm>
          <a:prstGeom prst="rect">
            <a:avLst/>
          </a:prstGeom>
          <a:noFill/>
          <a:ln/>
        </p:spPr>
        <p:txBody>
          <a:bodyPr wrap="square" lIns="0" tIns="0" rIns="0" bIns="0" rtlCol="0" anchor="t"/>
          <a:lstStyle/>
          <a:p>
            <a:pPr marL="0" indent="0" algn="l">
              <a:lnSpc>
                <a:spcPct val="100000"/>
              </a:lnSpc>
              <a:buNone/>
            </a:pPr>
            <a:r>
              <a:rPr lang="en-US" sz="1250" b="1" dirty="0">
                <a:solidFill>
                  <a:srgbClr val="FF7A29"/>
                </a:solidFill>
                <a:latin typeface="Calibri" pitchFamily="34" charset="0"/>
                <a:ea typeface="Calibri" pitchFamily="34" charset="-122"/>
                <a:cs typeface="Calibri" pitchFamily="34" charset="-120"/>
              </a:rPr>
              <a:t>Screenshot of the app, tab 5 · Failure: criteria per ply face (highlighted: ply 4, bottom)</a:t>
            </a:r>
            <a:endParaRPr lang="en-US" sz="1250" dirty="0"/>
          </a:p>
        </p:txBody>
      </p:sp>
      <p:sp>
        <p:nvSpPr>
          <p:cNvPr id="11" name="Shape 8"/>
          <p:cNvSpPr/>
          <p:nvPr/>
        </p:nvSpPr>
        <p:spPr>
          <a:xfrm>
            <a:off x="640080" y="2633472"/>
            <a:ext cx="6035040" cy="2414016"/>
          </a:xfrm>
          <a:prstGeom prst="rect">
            <a:avLst/>
          </a:prstGeom>
          <a:solidFill>
            <a:srgbClr val="FFFFFF"/>
          </a:solidFill>
          <a:ln w="9525">
            <a:solidFill>
              <a:srgbClr val="D8D6D2"/>
            </a:solidFill>
            <a:prstDash val="solid"/>
          </a:ln>
        </p:spPr>
        <p:txBody>
          <a:bodyPr/>
          <a:lstStyle/>
          <a:p>
            <a:endParaRPr lang="en-US"/>
          </a:p>
        </p:txBody>
      </p:sp>
      <p:pic>
        <p:nvPicPr>
          <p:cNvPr id="12" name="Image 0" descr="App failure table with the ply 4 bottom row highlighted"/>
          <p:cNvPicPr>
            <a:picLocks noChangeAspect="1"/>
          </p:cNvPicPr>
          <p:nvPr/>
        </p:nvPicPr>
        <p:blipFill>
          <a:blip r:embed="rId5"/>
          <a:stretch>
            <a:fillRect/>
          </a:stretch>
        </p:blipFill>
        <p:spPr>
          <a:xfrm>
            <a:off x="640080" y="2633472"/>
            <a:ext cx="6035040" cy="2397668"/>
          </a:xfrm>
          <a:prstGeom prst="rect">
            <a:avLst/>
          </a:prstGeom>
        </p:spPr>
      </p:pic>
      <p:sp>
        <p:nvSpPr>
          <p:cNvPr id="13" name="Text 9"/>
          <p:cNvSpPr txBox="1"/>
          <p:nvPr/>
        </p:nvSpPr>
        <p:spPr>
          <a:xfrm>
            <a:off x="640080" y="5138928"/>
            <a:ext cx="6035040" cy="868680"/>
          </a:xfrm>
          <a:prstGeom prst="rect">
            <a:avLst/>
          </a:prstGeom>
          <a:noFill/>
          <a:ln/>
        </p:spPr>
        <p:txBody>
          <a:bodyPr wrap="square" lIns="0" tIns="0" rIns="0" bIns="0" rtlCol="0" anchor="t"/>
          <a:lstStyle/>
          <a:p>
            <a:pPr marL="0" indent="0" algn="l">
              <a:lnSpc>
                <a:spcPct val="100000"/>
              </a:lnSpc>
              <a:buNone/>
            </a:pPr>
            <a:r>
              <a:rPr lang="en-US" sz="1300" dirty="0">
                <a:solidFill>
                  <a:srgbClr val="6B6F76"/>
                </a:solidFill>
                <a:latin typeface="Calibri" pitchFamily="34" charset="0"/>
                <a:ea typeface="Calibri" pitchFamily="34" charset="-122"/>
                <a:cs typeface="Calibri" pitchFamily="34" charset="-120"/>
              </a:rPr>
              <a:t>Tsai–Wu R = 2.761 at plies 4 and 5, which tie in a symmetric stack; the app names the first, ply 4 bottom. There Max Stress is 0.340 (transverse tension, load factor 1/0.340 = 2.94), so Tsai–Wu is the stricter of the two.</a:t>
            </a:r>
            <a:endParaRPr lang="en-US" sz="1300" dirty="0"/>
          </a:p>
        </p:txBody>
      </p:sp>
      <p:sp>
        <p:nvSpPr>
          <p:cNvPr id="14" name="Text 10"/>
          <p:cNvSpPr txBox="1"/>
          <p:nvPr/>
        </p:nvSpPr>
        <p:spPr>
          <a:xfrm>
            <a:off x="7086600" y="2395728"/>
            <a:ext cx="4462272" cy="274320"/>
          </a:xfrm>
          <a:prstGeom prst="rect">
            <a:avLst/>
          </a:prstGeom>
          <a:noFill/>
          <a:ln/>
        </p:spPr>
        <p:txBody>
          <a:bodyPr wrap="square" lIns="0" tIns="0" rIns="0" bIns="0" rtlCol="0" anchor="t"/>
          <a:lstStyle/>
          <a:p>
            <a:pPr marL="0" indent="0" algn="l">
              <a:lnSpc>
                <a:spcPct val="100000"/>
              </a:lnSpc>
              <a:buNone/>
            </a:pPr>
            <a:r>
              <a:rPr lang="en-US" sz="1600" b="1" dirty="0">
                <a:solidFill>
                  <a:srgbClr val="16181B"/>
                </a:solidFill>
                <a:latin typeface="Calibri" pitchFamily="34" charset="0"/>
                <a:ea typeface="Calibri" pitchFamily="34" charset="-122"/>
                <a:cs typeface="Calibri" pitchFamily="34" charset="-120"/>
              </a:rPr>
              <a:t>Max Stress</a:t>
            </a:r>
            <a:endParaRPr lang="en-US" sz="1600" dirty="0"/>
          </a:p>
        </p:txBody>
      </p:sp>
      <p:sp>
        <p:nvSpPr>
          <p:cNvPr id="15" name="Text 11"/>
          <p:cNvSpPr txBox="1"/>
          <p:nvPr/>
        </p:nvSpPr>
        <p:spPr>
          <a:xfrm>
            <a:off x="7086600" y="2688336"/>
            <a:ext cx="4462272" cy="502920"/>
          </a:xfrm>
          <a:prstGeom prst="rect">
            <a:avLst/>
          </a:prstGeom>
          <a:noFill/>
          <a:ln/>
        </p:spPr>
        <p:txBody>
          <a:bodyPr wrap="square" lIns="0" tIns="0" rIns="0" bIns="0" rtlCol="0" anchor="t"/>
          <a:lstStyle/>
          <a:p>
            <a:pPr marL="0" indent="0" algn="l">
              <a:lnSpc>
                <a:spcPct val="100000"/>
              </a:lnSpc>
              <a:buNone/>
            </a:pPr>
            <a:r>
              <a:rPr lang="en-US" sz="1400" dirty="0">
                <a:solidFill>
                  <a:srgbClr val="6B6F76"/>
                </a:solidFill>
                <a:latin typeface="Calibri" pitchFamily="34" charset="0"/>
                <a:ea typeface="Calibri" pitchFamily="34" charset="-122"/>
                <a:cs typeface="Calibri" pitchFamily="34" charset="-120"/>
              </a:rPr>
              <a:t>each stress against its own strength; names the controlling mode</a:t>
            </a:r>
            <a:endParaRPr lang="en-US" sz="1400" dirty="0"/>
          </a:p>
        </p:txBody>
      </p:sp>
      <p:sp>
        <p:nvSpPr>
          <p:cNvPr id="16" name="Shape 12"/>
          <p:cNvSpPr/>
          <p:nvPr/>
        </p:nvSpPr>
        <p:spPr>
          <a:xfrm>
            <a:off x="7086600" y="3236976"/>
            <a:ext cx="4462272" cy="10973"/>
          </a:xfrm>
          <a:prstGeom prst="rect">
            <a:avLst/>
          </a:prstGeom>
          <a:solidFill>
            <a:srgbClr val="D8D6D2"/>
          </a:solidFill>
          <a:ln w="12700">
            <a:solidFill>
              <a:srgbClr val="D8D6D2"/>
            </a:solidFill>
            <a:prstDash val="solid"/>
          </a:ln>
        </p:spPr>
        <p:txBody>
          <a:bodyPr/>
          <a:lstStyle/>
          <a:p>
            <a:endParaRPr lang="en-US"/>
          </a:p>
        </p:txBody>
      </p:sp>
      <p:sp>
        <p:nvSpPr>
          <p:cNvPr id="17" name="Text 13"/>
          <p:cNvSpPr txBox="1"/>
          <p:nvPr/>
        </p:nvSpPr>
        <p:spPr>
          <a:xfrm>
            <a:off x="7086600" y="3291840"/>
            <a:ext cx="4462272" cy="274320"/>
          </a:xfrm>
          <a:prstGeom prst="rect">
            <a:avLst/>
          </a:prstGeom>
          <a:noFill/>
          <a:ln/>
        </p:spPr>
        <p:txBody>
          <a:bodyPr wrap="square" lIns="0" tIns="0" rIns="0" bIns="0" rtlCol="0" anchor="t"/>
          <a:lstStyle/>
          <a:p>
            <a:pPr marL="0" indent="0" algn="l">
              <a:lnSpc>
                <a:spcPct val="100000"/>
              </a:lnSpc>
              <a:buNone/>
            </a:pPr>
            <a:r>
              <a:rPr lang="en-US" sz="1600" b="1" dirty="0">
                <a:solidFill>
                  <a:srgbClr val="16181B"/>
                </a:solidFill>
                <a:latin typeface="Calibri" pitchFamily="34" charset="0"/>
                <a:ea typeface="Calibri" pitchFamily="34" charset="-122"/>
                <a:cs typeface="Calibri" pitchFamily="34" charset="-120"/>
              </a:rPr>
              <a:t>Tsai–Wu</a:t>
            </a:r>
            <a:endParaRPr lang="en-US" sz="1600" dirty="0"/>
          </a:p>
        </p:txBody>
      </p:sp>
      <p:sp>
        <p:nvSpPr>
          <p:cNvPr id="18" name="Text 14"/>
          <p:cNvSpPr txBox="1"/>
          <p:nvPr/>
        </p:nvSpPr>
        <p:spPr>
          <a:xfrm>
            <a:off x="7086600" y="3584448"/>
            <a:ext cx="4462272" cy="502920"/>
          </a:xfrm>
          <a:prstGeom prst="rect">
            <a:avLst/>
          </a:prstGeom>
          <a:noFill/>
          <a:ln/>
        </p:spPr>
        <p:txBody>
          <a:bodyPr wrap="square" lIns="0" tIns="0" rIns="0" bIns="0" rtlCol="0" anchor="t"/>
          <a:lstStyle/>
          <a:p>
            <a:pPr marL="0" indent="0" algn="l">
              <a:lnSpc>
                <a:spcPct val="100000"/>
              </a:lnSpc>
              <a:buNone/>
            </a:pPr>
            <a:r>
              <a:rPr lang="en-US" sz="1400" dirty="0">
                <a:solidFill>
                  <a:srgbClr val="6B6F76"/>
                </a:solidFill>
                <a:latin typeface="Calibri" pitchFamily="34" charset="0"/>
                <a:ea typeface="Calibri" pitchFamily="34" charset="-122"/>
                <a:cs typeface="Calibri" pitchFamily="34" charset="-120"/>
              </a:rPr>
              <a:t>all stress components in one quadratic index and a load factor; no separate failure mode, and F12 is assumed</a:t>
            </a:r>
            <a:endParaRPr lang="en-US" sz="1400" dirty="0"/>
          </a:p>
        </p:txBody>
      </p:sp>
      <p:sp>
        <p:nvSpPr>
          <p:cNvPr id="19" name="Shape 15"/>
          <p:cNvSpPr/>
          <p:nvPr/>
        </p:nvSpPr>
        <p:spPr>
          <a:xfrm>
            <a:off x="7086600" y="4133088"/>
            <a:ext cx="4462272" cy="10973"/>
          </a:xfrm>
          <a:prstGeom prst="rect">
            <a:avLst/>
          </a:prstGeom>
          <a:solidFill>
            <a:srgbClr val="D8D6D2"/>
          </a:solidFill>
          <a:ln w="12700">
            <a:solidFill>
              <a:srgbClr val="D8D6D2"/>
            </a:solidFill>
            <a:prstDash val="solid"/>
          </a:ln>
        </p:spPr>
        <p:txBody>
          <a:bodyPr/>
          <a:lstStyle/>
          <a:p>
            <a:endParaRPr lang="en-US"/>
          </a:p>
        </p:txBody>
      </p:sp>
      <p:sp>
        <p:nvSpPr>
          <p:cNvPr id="20" name="Text 16"/>
          <p:cNvSpPr txBox="1"/>
          <p:nvPr/>
        </p:nvSpPr>
        <p:spPr>
          <a:xfrm>
            <a:off x="7086600" y="4187952"/>
            <a:ext cx="4462272" cy="274320"/>
          </a:xfrm>
          <a:prstGeom prst="rect">
            <a:avLst/>
          </a:prstGeom>
          <a:noFill/>
          <a:ln/>
        </p:spPr>
        <p:txBody>
          <a:bodyPr wrap="square" lIns="0" tIns="0" rIns="0" bIns="0" rtlCol="0" anchor="t"/>
          <a:lstStyle/>
          <a:p>
            <a:pPr marL="0" indent="0" algn="l">
              <a:lnSpc>
                <a:spcPct val="100000"/>
              </a:lnSpc>
              <a:buNone/>
            </a:pPr>
            <a:r>
              <a:rPr lang="en-US" sz="1600" b="1" dirty="0">
                <a:solidFill>
                  <a:srgbClr val="16181B"/>
                </a:solidFill>
                <a:latin typeface="Calibri" pitchFamily="34" charset="0"/>
                <a:ea typeface="Calibri" pitchFamily="34" charset="-122"/>
                <a:cs typeface="Calibri" pitchFamily="34" charset="-120"/>
              </a:rPr>
              <a:t>Hashin</a:t>
            </a:r>
            <a:endParaRPr lang="en-US" sz="1600" dirty="0"/>
          </a:p>
        </p:txBody>
      </p:sp>
      <p:sp>
        <p:nvSpPr>
          <p:cNvPr id="21" name="Text 17"/>
          <p:cNvSpPr txBox="1"/>
          <p:nvPr/>
        </p:nvSpPr>
        <p:spPr>
          <a:xfrm>
            <a:off x="7086600" y="4480560"/>
            <a:ext cx="4462272" cy="502920"/>
          </a:xfrm>
          <a:prstGeom prst="rect">
            <a:avLst/>
          </a:prstGeom>
          <a:noFill/>
          <a:ln/>
        </p:spPr>
        <p:txBody>
          <a:bodyPr wrap="square" lIns="0" tIns="0" rIns="0" bIns="0" rtlCol="0" anchor="t"/>
          <a:lstStyle/>
          <a:p>
            <a:pPr marL="0" indent="0" algn="l">
              <a:lnSpc>
                <a:spcPct val="100000"/>
              </a:lnSpc>
              <a:buNone/>
            </a:pPr>
            <a:r>
              <a:rPr lang="en-US" sz="1400" dirty="0">
                <a:solidFill>
                  <a:srgbClr val="6B6F76"/>
                </a:solidFill>
                <a:latin typeface="Calibri" pitchFamily="34" charset="0"/>
                <a:ea typeface="Calibri" pitchFamily="34" charset="-122"/>
                <a:cs typeface="Calibri" pitchFamily="34" charset="-120"/>
              </a:rPr>
              <a:t>separate fibre and matrix modes; names the active one</a:t>
            </a:r>
            <a:endParaRPr lang="en-US" sz="1400" dirty="0"/>
          </a:p>
        </p:txBody>
      </p:sp>
      <p:sp>
        <p:nvSpPr>
          <p:cNvPr id="22" name="Shape 18"/>
          <p:cNvSpPr/>
          <p:nvPr/>
        </p:nvSpPr>
        <p:spPr>
          <a:xfrm>
            <a:off x="7086600" y="5029200"/>
            <a:ext cx="4462272" cy="10973"/>
          </a:xfrm>
          <a:prstGeom prst="rect">
            <a:avLst/>
          </a:prstGeom>
          <a:solidFill>
            <a:srgbClr val="D8D6D2"/>
          </a:solidFill>
          <a:ln w="12700">
            <a:solidFill>
              <a:srgbClr val="D8D6D2"/>
            </a:solidFill>
            <a:prstDash val="solid"/>
          </a:ln>
        </p:spPr>
        <p:txBody>
          <a:bodyPr/>
          <a:lstStyle/>
          <a:p>
            <a:endParaRPr lang="en-US"/>
          </a:p>
        </p:txBody>
      </p:sp>
      <p:sp>
        <p:nvSpPr>
          <p:cNvPr id="23" name="Shape 19"/>
          <p:cNvSpPr/>
          <p:nvPr/>
        </p:nvSpPr>
        <p:spPr>
          <a:xfrm>
            <a:off x="7086600" y="5120640"/>
            <a:ext cx="4462272" cy="996696"/>
          </a:xfrm>
          <a:prstGeom prst="rect">
            <a:avLst/>
          </a:prstGeom>
          <a:solidFill>
            <a:srgbClr val="16181B"/>
          </a:solidFill>
          <a:ln w="12700">
            <a:solidFill>
              <a:srgbClr val="16181B"/>
            </a:solidFill>
            <a:prstDash val="solid"/>
          </a:ln>
        </p:spPr>
        <p:txBody>
          <a:bodyPr/>
          <a:lstStyle/>
          <a:p>
            <a:endParaRPr lang="en-US"/>
          </a:p>
        </p:txBody>
      </p:sp>
      <p:sp>
        <p:nvSpPr>
          <p:cNvPr id="24" name="Text 20"/>
          <p:cNvSpPr txBox="1"/>
          <p:nvPr/>
        </p:nvSpPr>
        <p:spPr>
          <a:xfrm>
            <a:off x="7306056" y="5120640"/>
            <a:ext cx="4023360" cy="996696"/>
          </a:xfrm>
          <a:prstGeom prst="rect">
            <a:avLst/>
          </a:prstGeom>
          <a:noFill/>
          <a:ln/>
        </p:spPr>
        <p:txBody>
          <a:bodyPr wrap="square" lIns="0" tIns="0" rIns="0" bIns="0" rtlCol="0" anchor="ctr"/>
          <a:lstStyle/>
          <a:p>
            <a:pPr marL="0" indent="0" algn="l">
              <a:lnSpc>
                <a:spcPct val="100000"/>
              </a:lnSpc>
              <a:buNone/>
            </a:pPr>
            <a:r>
              <a:rPr lang="en-US" sz="1500" b="1" dirty="0">
                <a:solidFill>
                  <a:srgbClr val="FF7A29"/>
                </a:solidFill>
                <a:latin typeface="Calibri" pitchFamily="34" charset="0"/>
                <a:ea typeface="Calibri" pitchFamily="34" charset="-122"/>
                <a:cs typeface="Calibri" pitchFamily="34" charset="-120"/>
              </a:rPr>
              <a:t>Default laminate under Nx = 100 kN/m: initiation at 2.76 times the load (Tsai–Wu, ply 4, bottom face).</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03 · FAILURE AND PRESSURE VESSEL · PRESSURE VESSEL TAB</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Live application, tab Pressure vessel · default [0/45/−45/90]s wall, 1 mm, R = 100 mm</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6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A cylinder under pressure gets three different model results, 2.96, 6.03 and 7.50 MPa, and none is a burst pressure</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The tab turns pressure into wall loads, so one laminate model can be asked three different questions.</a:t>
            </a:r>
            <a:endParaRPr lang="en-US" sz="1800" dirty="0"/>
          </a:p>
        </p:txBody>
      </p:sp>
      <p:sp>
        <p:nvSpPr>
          <p:cNvPr id="10" name="Text 7"/>
          <p:cNvSpPr txBox="1"/>
          <p:nvPr/>
        </p:nvSpPr>
        <p:spPr>
          <a:xfrm>
            <a:off x="640080" y="2359152"/>
            <a:ext cx="5669280" cy="237744"/>
          </a:xfrm>
          <a:prstGeom prst="rect">
            <a:avLst/>
          </a:prstGeom>
          <a:noFill/>
          <a:ln/>
        </p:spPr>
        <p:txBody>
          <a:bodyPr wrap="square" lIns="0" tIns="0" rIns="0" bIns="0" rtlCol="0" anchor="t"/>
          <a:lstStyle/>
          <a:p>
            <a:pPr marL="0" indent="0" algn="l">
              <a:lnSpc>
                <a:spcPct val="100000"/>
              </a:lnSpc>
              <a:buNone/>
            </a:pPr>
            <a:r>
              <a:rPr lang="en-US" sz="1250" b="1" dirty="0">
                <a:solidFill>
                  <a:srgbClr val="FF7A29"/>
                </a:solidFill>
                <a:latin typeface="Calibri" pitchFamily="34" charset="0"/>
                <a:ea typeface="Calibri" pitchFamily="34" charset="-122"/>
                <a:cs typeface="Calibri" pitchFamily="34" charset="-120"/>
              </a:rPr>
              <a:t>Screenshot of the app, tab Pressure vessel: angle study, 16-ply wall</a:t>
            </a:r>
            <a:endParaRPr lang="en-US" sz="1250" dirty="0"/>
          </a:p>
        </p:txBody>
      </p:sp>
      <p:sp>
        <p:nvSpPr>
          <p:cNvPr id="11" name="Shape 8"/>
          <p:cNvSpPr/>
          <p:nvPr/>
        </p:nvSpPr>
        <p:spPr>
          <a:xfrm>
            <a:off x="640080" y="2633472"/>
            <a:ext cx="5669280" cy="2112264"/>
          </a:xfrm>
          <a:prstGeom prst="rect">
            <a:avLst/>
          </a:prstGeom>
          <a:solidFill>
            <a:srgbClr val="FFFFFF"/>
          </a:solidFill>
          <a:ln w="9525">
            <a:solidFill>
              <a:srgbClr val="D8D6D2"/>
            </a:solidFill>
            <a:prstDash val="solid"/>
          </a:ln>
        </p:spPr>
        <p:txBody>
          <a:bodyPr/>
          <a:lstStyle/>
          <a:p>
            <a:endParaRPr lang="en-US"/>
          </a:p>
        </p:txBody>
      </p:sp>
      <p:pic>
        <p:nvPicPr>
          <p:cNvPr id="12" name="Image 0" descr="App pressure vessel tab: result tiles and winding-angle chart"/>
          <p:cNvPicPr>
            <a:picLocks noChangeAspect="1"/>
          </p:cNvPicPr>
          <p:nvPr/>
        </p:nvPicPr>
        <p:blipFill>
          <a:blip r:embed="rId5"/>
          <a:stretch>
            <a:fillRect/>
          </a:stretch>
        </p:blipFill>
        <p:spPr>
          <a:xfrm>
            <a:off x="640080" y="2633472"/>
            <a:ext cx="5669280" cy="2116531"/>
          </a:xfrm>
          <a:prstGeom prst="rect">
            <a:avLst/>
          </a:prstGeom>
        </p:spPr>
      </p:pic>
      <p:sp>
        <p:nvSpPr>
          <p:cNvPr id="13" name="Text 9"/>
          <p:cNvSpPr txBox="1"/>
          <p:nvPr/>
        </p:nvSpPr>
        <p:spPr>
          <a:xfrm>
            <a:off x="640080" y="4846320"/>
            <a:ext cx="5669280" cy="777240"/>
          </a:xfrm>
          <a:prstGeom prst="rect">
            <a:avLst/>
          </a:prstGeom>
          <a:noFill/>
          <a:ln/>
        </p:spPr>
        <p:txBody>
          <a:bodyPr wrap="square" lIns="0" tIns="0" rIns="0" bIns="0" rtlCol="0" anchor="t"/>
          <a:lstStyle/>
          <a:p>
            <a:pPr marL="0" indent="0" algn="l">
              <a:lnSpc>
                <a:spcPct val="100000"/>
              </a:lnSpc>
              <a:buNone/>
            </a:pPr>
            <a:r>
              <a:rPr lang="en-US" sz="1300" dirty="0">
                <a:solidFill>
                  <a:srgbClr val="6B6F76"/>
                </a:solidFill>
                <a:latin typeface="Calibri" pitchFamily="34" charset="0"/>
                <a:ea typeface="Calibri" pitchFamily="34" charset="-122"/>
                <a:cs typeface="Calibri" pitchFamily="34" charset="-120"/>
              </a:rPr>
              <a:t>Wall loads: Nx = pR/2 along the axis, Ny = pR around the hoop. Netting (fibres only) balances them at tan²θ = 2, which gives θ = 54.74°; the chart compares the three models at every angle.</a:t>
            </a:r>
            <a:endParaRPr lang="en-US" sz="1300" dirty="0"/>
          </a:p>
        </p:txBody>
      </p:sp>
      <p:sp>
        <p:nvSpPr>
          <p:cNvPr id="14" name="Text 10"/>
          <p:cNvSpPr txBox="1"/>
          <p:nvPr/>
        </p:nvSpPr>
        <p:spPr>
          <a:xfrm>
            <a:off x="6675120" y="2359152"/>
            <a:ext cx="4873752" cy="256032"/>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Default 8-ply wall, MPa</a:t>
            </a:r>
            <a:endParaRPr lang="en-US" sz="1650" dirty="0"/>
          </a:p>
        </p:txBody>
      </p:sp>
      <p:sp>
        <p:nvSpPr>
          <p:cNvPr id="15" name="Shape 11"/>
          <p:cNvSpPr/>
          <p:nvPr/>
        </p:nvSpPr>
        <p:spPr>
          <a:xfrm>
            <a:off x="6675120" y="2688336"/>
            <a:ext cx="4873752" cy="18288"/>
          </a:xfrm>
          <a:prstGeom prst="rect">
            <a:avLst/>
          </a:prstGeom>
          <a:solidFill>
            <a:srgbClr val="16181B"/>
          </a:solidFill>
          <a:ln w="12700">
            <a:solidFill>
              <a:srgbClr val="16181B"/>
            </a:solidFill>
            <a:prstDash val="solid"/>
          </a:ln>
        </p:spPr>
        <p:txBody>
          <a:bodyPr/>
          <a:lstStyle/>
          <a:p>
            <a:endParaRPr lang="en-US"/>
          </a:p>
        </p:txBody>
      </p:sp>
      <p:graphicFrame>
        <p:nvGraphicFramePr>
          <p:cNvPr id="16" name="Chart 0"/>
          <p:cNvGraphicFramePr/>
          <p:nvPr/>
        </p:nvGraphicFramePr>
        <p:xfrm>
          <a:off x="6675120" y="2761488"/>
          <a:ext cx="4873752" cy="1737360"/>
        </p:xfrm>
        <a:graphic>
          <a:graphicData uri="http://schemas.openxmlformats.org/drawingml/2006/chart">
            <c:chart xmlns:c="http://schemas.openxmlformats.org/drawingml/2006/chart" xmlns:r="http://schemas.openxmlformats.org/officeDocument/2006/relationships" r:id="rId6"/>
          </a:graphicData>
        </a:graphic>
      </p:graphicFrame>
      <p:sp>
        <p:nvSpPr>
          <p:cNvPr id="17" name="Text 12"/>
          <p:cNvSpPr txBox="1"/>
          <p:nvPr/>
        </p:nvSpPr>
        <p:spPr>
          <a:xfrm>
            <a:off x="6675120" y="4544568"/>
            <a:ext cx="4873752" cy="1051560"/>
          </a:xfrm>
          <a:prstGeom prst="rect">
            <a:avLst/>
          </a:prstGeom>
          <a:noFill/>
          <a:ln/>
        </p:spPr>
        <p:txBody>
          <a:bodyPr wrap="square" lIns="0" tIns="0" rIns="0" bIns="0" rtlCol="0" anchor="t"/>
          <a:lstStyle/>
          <a:p>
            <a:pPr marL="0" indent="0" algn="l">
              <a:lnSpc>
                <a:spcPct val="100000"/>
              </a:lnSpc>
              <a:buNone/>
            </a:pPr>
            <a:r>
              <a:rPr lang="en-US" sz="1250" dirty="0">
                <a:solidFill>
                  <a:srgbClr val="6B6F76"/>
                </a:solidFill>
                <a:latin typeface="Calibri" pitchFamily="34" charset="0"/>
                <a:ea typeface="Calibri" pitchFamily="34" charset="-122"/>
                <a:cs typeface="Calibri" pitchFamily="34" charset="-120"/>
              </a:rPr>
              <a:t>First ply: load at which the first ply fails (elastic model). Model stop: load where a run with plies failing one by one halts under a stated rule; it moves from 5.96 to 7.13 MPa when the assumed damage factors go from 0.01 to 0.5. Netting: fibres only.</a:t>
            </a:r>
            <a:endParaRPr lang="en-US" sz="1250" dirty="0"/>
          </a:p>
        </p:txBody>
      </p:sp>
      <p:sp>
        <p:nvSpPr>
          <p:cNvPr id="18" name="Shape 13"/>
          <p:cNvSpPr/>
          <p:nvPr/>
        </p:nvSpPr>
        <p:spPr>
          <a:xfrm>
            <a:off x="640080" y="5669280"/>
            <a:ext cx="10908792" cy="502920"/>
          </a:xfrm>
          <a:prstGeom prst="rect">
            <a:avLst/>
          </a:prstGeom>
          <a:solidFill>
            <a:srgbClr val="16181B"/>
          </a:solidFill>
          <a:ln w="12700">
            <a:solidFill>
              <a:srgbClr val="16181B"/>
            </a:solidFill>
            <a:prstDash val="solid"/>
          </a:ln>
        </p:spPr>
        <p:txBody>
          <a:bodyPr/>
          <a:lstStyle/>
          <a:p>
            <a:endParaRPr lang="en-US"/>
          </a:p>
        </p:txBody>
      </p:sp>
      <p:sp>
        <p:nvSpPr>
          <p:cNvPr id="19" name="Text 14"/>
          <p:cNvSpPr txBox="1"/>
          <p:nvPr/>
        </p:nvSpPr>
        <p:spPr>
          <a:xfrm>
            <a:off x="859536" y="5669280"/>
            <a:ext cx="10469880" cy="502920"/>
          </a:xfrm>
          <a:prstGeom prst="rect">
            <a:avLst/>
          </a:prstGeom>
          <a:noFill/>
          <a:ln/>
        </p:spPr>
        <p:txBody>
          <a:bodyPr wrap="square" lIns="0" tIns="0" rIns="0" bIns="0" rtlCol="0" anchor="ctr"/>
          <a:lstStyle/>
          <a:p>
            <a:pPr marL="0" indent="0" algn="l">
              <a:lnSpc>
                <a:spcPct val="100000"/>
              </a:lnSpc>
              <a:buNone/>
            </a:pPr>
            <a:r>
              <a:rPr lang="en-US" sz="1500" b="1" dirty="0">
                <a:solidFill>
                  <a:srgbClr val="FF7A29"/>
                </a:solidFill>
                <a:latin typeface="Calibri" pitchFamily="34" charset="0"/>
                <a:ea typeface="Calibri" pitchFamily="34" charset="-122"/>
                <a:cs typeface="Calibri" pitchFamily="34" charset="-120"/>
              </a:rPr>
              <a:t>These are results of three different models, not lower and upper bounds of a real burst pressure.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04 · FURTHER STUDIES</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Demonstration values of the default inputs, live application</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7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Thermal stress, dome winding and a layup search reuse the laminate model to answer questions the plain wall cannot</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Each study adds one effect, with its limit stated, so the extra numbers are not mistaken for predictions.</a:t>
            </a:r>
            <a:endParaRPr lang="en-US" sz="1800" dirty="0"/>
          </a:p>
        </p:txBody>
      </p:sp>
      <p:sp>
        <p:nvSpPr>
          <p:cNvPr id="10" name="Text 7"/>
          <p:cNvSpPr txBox="1"/>
          <p:nvPr/>
        </p:nvSpPr>
        <p:spPr>
          <a:xfrm>
            <a:off x="640080" y="2395728"/>
            <a:ext cx="3392424" cy="256032"/>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Thermal stress</a:t>
            </a:r>
            <a:endParaRPr lang="en-US" sz="1650" dirty="0"/>
          </a:p>
        </p:txBody>
      </p:sp>
      <p:sp>
        <p:nvSpPr>
          <p:cNvPr id="11" name="Shape 8"/>
          <p:cNvSpPr/>
          <p:nvPr/>
        </p:nvSpPr>
        <p:spPr>
          <a:xfrm>
            <a:off x="640080" y="2706624"/>
            <a:ext cx="3392424" cy="18288"/>
          </a:xfrm>
          <a:prstGeom prst="rect">
            <a:avLst/>
          </a:prstGeom>
          <a:solidFill>
            <a:srgbClr val="16181B"/>
          </a:solidFill>
          <a:ln w="12700">
            <a:solidFill>
              <a:srgbClr val="16181B"/>
            </a:solidFill>
            <a:prstDash val="solid"/>
          </a:ln>
        </p:spPr>
        <p:txBody>
          <a:bodyPr/>
          <a:lstStyle/>
          <a:p>
            <a:endParaRPr lang="en-US"/>
          </a:p>
        </p:txBody>
      </p:sp>
      <p:sp>
        <p:nvSpPr>
          <p:cNvPr id="12" name="Text 9"/>
          <p:cNvSpPr txBox="1"/>
          <p:nvPr/>
        </p:nvSpPr>
        <p:spPr>
          <a:xfrm>
            <a:off x="640080" y="2834640"/>
            <a:ext cx="3392424"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21.27 MPa</a:t>
            </a:r>
            <a:endParaRPr lang="en-US" sz="2700" dirty="0"/>
          </a:p>
        </p:txBody>
      </p:sp>
      <p:sp>
        <p:nvSpPr>
          <p:cNvPr id="13" name="Text 10"/>
          <p:cNvSpPr txBox="1"/>
          <p:nvPr/>
        </p:nvSpPr>
        <p:spPr>
          <a:xfrm>
            <a:off x="640080" y="3364992"/>
            <a:ext cx="3392424" cy="1371600"/>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Cooling by 100 °C leaves transverse stress in the plies before any load; it lowers the first-ply load factor of the default laminate from 2.76 to about 1.285.</a:t>
            </a:r>
            <a:endParaRPr lang="en-US" sz="1450" dirty="0"/>
          </a:p>
        </p:txBody>
      </p:sp>
      <p:sp>
        <p:nvSpPr>
          <p:cNvPr id="14" name="Text 11"/>
          <p:cNvSpPr txBox="1"/>
          <p:nvPr/>
        </p:nvSpPr>
        <p:spPr>
          <a:xfrm>
            <a:off x="640080" y="4754880"/>
            <a:ext cx="3392424" cy="548640"/>
          </a:xfrm>
          <a:prstGeom prst="rect">
            <a:avLst/>
          </a:prstGeom>
          <a:noFill/>
          <a:ln/>
        </p:spPr>
        <p:txBody>
          <a:bodyPr wrap="square" lIns="0" tIns="0" rIns="0" bIns="0" rtlCol="0" anchor="t"/>
          <a:lstStyle/>
          <a:p>
            <a:pPr marL="0" indent="0" algn="l">
              <a:lnSpc>
                <a:spcPct val="100000"/>
              </a:lnSpc>
              <a:buNone/>
            </a:pPr>
            <a:r>
              <a:rPr lang="en-US" sz="1350" dirty="0">
                <a:solidFill>
                  <a:srgbClr val="6B6F76"/>
                </a:solidFill>
                <a:latin typeface="Calibri" pitchFamily="34" charset="0"/>
                <a:ea typeface="Calibri" pitchFamily="34" charset="-122"/>
                <a:cs typeface="Calibri" pitchFamily="34" charset="-120"/>
              </a:rPr>
              <a:t>No temperature-dependent properties, no cure chemistry.</a:t>
            </a:r>
            <a:endParaRPr lang="en-US" sz="1350" dirty="0"/>
          </a:p>
        </p:txBody>
      </p:sp>
      <p:sp>
        <p:nvSpPr>
          <p:cNvPr id="15" name="Text 12"/>
          <p:cNvSpPr txBox="1"/>
          <p:nvPr/>
        </p:nvSpPr>
        <p:spPr>
          <a:xfrm>
            <a:off x="4398264" y="2395728"/>
            <a:ext cx="3392424" cy="256032"/>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Dome winding</a:t>
            </a:r>
            <a:endParaRPr lang="en-US" sz="1650" dirty="0"/>
          </a:p>
        </p:txBody>
      </p:sp>
      <p:sp>
        <p:nvSpPr>
          <p:cNvPr id="16" name="Shape 13"/>
          <p:cNvSpPr/>
          <p:nvPr/>
        </p:nvSpPr>
        <p:spPr>
          <a:xfrm>
            <a:off x="4398264" y="2706624"/>
            <a:ext cx="3392424" cy="18288"/>
          </a:xfrm>
          <a:prstGeom prst="rect">
            <a:avLst/>
          </a:prstGeom>
          <a:solidFill>
            <a:srgbClr val="16181B"/>
          </a:solidFill>
          <a:ln w="12700">
            <a:solidFill>
              <a:srgbClr val="16181B"/>
            </a:solidFill>
            <a:prstDash val="solid"/>
          </a:ln>
        </p:spPr>
        <p:txBody>
          <a:bodyPr/>
          <a:lstStyle/>
          <a:p>
            <a:endParaRPr lang="en-US"/>
          </a:p>
        </p:txBody>
      </p:sp>
      <p:sp>
        <p:nvSpPr>
          <p:cNvPr id="17" name="Text 14"/>
          <p:cNvSpPr txBox="1"/>
          <p:nvPr/>
        </p:nvSpPr>
        <p:spPr>
          <a:xfrm>
            <a:off x="4398264" y="2834640"/>
            <a:ext cx="3392424"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15 of 41</a:t>
            </a:r>
            <a:endParaRPr lang="en-US" sz="2700" dirty="0"/>
          </a:p>
        </p:txBody>
      </p:sp>
      <p:sp>
        <p:nvSpPr>
          <p:cNvPr id="18" name="Text 15"/>
          <p:cNvSpPr txBox="1"/>
          <p:nvPr/>
        </p:nvSpPr>
        <p:spPr>
          <a:xfrm>
            <a:off x="4398264" y="3364992"/>
            <a:ext cx="3392424" cy="1371600"/>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The winding angle changes along a dome, so the wall is checked station by station: 15 stations are membrane-valid, the weakest about 4.32 MPa.</a:t>
            </a:r>
            <a:endParaRPr lang="en-US" sz="1450" dirty="0"/>
          </a:p>
        </p:txBody>
      </p:sp>
      <p:sp>
        <p:nvSpPr>
          <p:cNvPr id="19" name="Text 16"/>
          <p:cNvSpPr txBox="1"/>
          <p:nvPr/>
        </p:nvSpPr>
        <p:spPr>
          <a:xfrm>
            <a:off x="4398264" y="4754880"/>
            <a:ext cx="3392424" cy="548640"/>
          </a:xfrm>
          <a:prstGeom prst="rect">
            <a:avLst/>
          </a:prstGeom>
          <a:noFill/>
          <a:ln/>
        </p:spPr>
        <p:txBody>
          <a:bodyPr wrap="square" lIns="0" tIns="0" rIns="0" bIns="0" rtlCol="0" anchor="t"/>
          <a:lstStyle/>
          <a:p>
            <a:pPr marL="0" indent="0" algn="l">
              <a:lnSpc>
                <a:spcPct val="100000"/>
              </a:lnSpc>
              <a:buNone/>
            </a:pPr>
            <a:r>
              <a:rPr lang="en-US" sz="1350" dirty="0">
                <a:solidFill>
                  <a:srgbClr val="6B6F76"/>
                </a:solidFill>
                <a:latin typeface="Calibri" pitchFamily="34" charset="0"/>
                <a:ea typeface="Calibri" pitchFamily="34" charset="-122"/>
                <a:cs typeface="Calibri" pitchFamily="34" charset="-120"/>
              </a:rPr>
              <a:t>Uses a separate 16-ply helical wall.</a:t>
            </a:r>
            <a:endParaRPr lang="en-US" sz="1350" dirty="0"/>
          </a:p>
        </p:txBody>
      </p:sp>
      <p:sp>
        <p:nvSpPr>
          <p:cNvPr id="20" name="Text 17"/>
          <p:cNvSpPr txBox="1"/>
          <p:nvPr/>
        </p:nvSpPr>
        <p:spPr>
          <a:xfrm>
            <a:off x="8156448" y="2395728"/>
            <a:ext cx="3392424" cy="256032"/>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Layup search</a:t>
            </a:r>
            <a:endParaRPr lang="en-US" sz="1650" dirty="0"/>
          </a:p>
        </p:txBody>
      </p:sp>
      <p:sp>
        <p:nvSpPr>
          <p:cNvPr id="21" name="Shape 18"/>
          <p:cNvSpPr/>
          <p:nvPr/>
        </p:nvSpPr>
        <p:spPr>
          <a:xfrm>
            <a:off x="8156448" y="2706624"/>
            <a:ext cx="3392424" cy="18288"/>
          </a:xfrm>
          <a:prstGeom prst="rect">
            <a:avLst/>
          </a:prstGeom>
          <a:solidFill>
            <a:srgbClr val="16181B"/>
          </a:solidFill>
          <a:ln w="12700">
            <a:solidFill>
              <a:srgbClr val="16181B"/>
            </a:solidFill>
            <a:prstDash val="solid"/>
          </a:ln>
        </p:spPr>
        <p:txBody>
          <a:bodyPr/>
          <a:lstStyle/>
          <a:p>
            <a:endParaRPr lang="en-US"/>
          </a:p>
        </p:txBody>
      </p:sp>
      <p:sp>
        <p:nvSpPr>
          <p:cNvPr id="22" name="Text 19"/>
          <p:cNvSpPr txBox="1"/>
          <p:nvPr/>
        </p:nvSpPr>
        <p:spPr>
          <a:xfrm>
            <a:off x="8156448" y="2834640"/>
            <a:ext cx="3392424"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128 of 203,490</a:t>
            </a:r>
            <a:endParaRPr lang="en-US" sz="2700" dirty="0"/>
          </a:p>
        </p:txBody>
      </p:sp>
      <p:sp>
        <p:nvSpPr>
          <p:cNvPr id="23" name="Text 20"/>
          <p:cNvSpPr txBox="1"/>
          <p:nvPr/>
        </p:nvSpPr>
        <p:spPr>
          <a:xfrm>
            <a:off x="8156448" y="3364992"/>
            <a:ext cx="3392424" cy="1371600"/>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The ply count per angle is searched instead of guessed: top first-ply about 8.86 MPa; model stop 20.10 MPa against 20.00 MPa fibre-only.</a:t>
            </a:r>
            <a:endParaRPr lang="en-US" sz="1450" dirty="0"/>
          </a:p>
        </p:txBody>
      </p:sp>
      <p:sp>
        <p:nvSpPr>
          <p:cNvPr id="24" name="Text 21"/>
          <p:cNvSpPr txBox="1"/>
          <p:nvPr/>
        </p:nvSpPr>
        <p:spPr>
          <a:xfrm>
            <a:off x="8156448" y="4754880"/>
            <a:ext cx="3392424" cy="548640"/>
          </a:xfrm>
          <a:prstGeom prst="rect">
            <a:avLst/>
          </a:prstGeom>
          <a:noFill/>
          <a:ln/>
        </p:spPr>
        <p:txBody>
          <a:bodyPr wrap="square" lIns="0" tIns="0" rIns="0" bIns="0" rtlCol="0" anchor="t"/>
          <a:lstStyle/>
          <a:p>
            <a:pPr marL="0" indent="0" algn="l">
              <a:lnSpc>
                <a:spcPct val="100000"/>
              </a:lnSpc>
              <a:buNone/>
            </a:pPr>
            <a:r>
              <a:rPr lang="en-US" sz="1350" dirty="0">
                <a:solidFill>
                  <a:srgbClr val="6B6F76"/>
                </a:solidFill>
                <a:latin typeface="Calibri" pitchFamily="34" charset="0"/>
                <a:ea typeface="Calibri" pitchFamily="34" charset="-122"/>
                <a:cs typeface="Calibri" pitchFamily="34" charset="-120"/>
              </a:rPr>
              <a:t>A sampled search, not a global optimum.</a:t>
            </a:r>
            <a:endParaRPr lang="en-US" sz="1350" dirty="0"/>
          </a:p>
        </p:txBody>
      </p:sp>
      <p:sp>
        <p:nvSpPr>
          <p:cNvPr id="25" name="Shape 22"/>
          <p:cNvSpPr/>
          <p:nvPr/>
        </p:nvSpPr>
        <p:spPr>
          <a:xfrm>
            <a:off x="640080" y="5440680"/>
            <a:ext cx="10908792" cy="640080"/>
          </a:xfrm>
          <a:prstGeom prst="rect">
            <a:avLst/>
          </a:prstGeom>
          <a:solidFill>
            <a:srgbClr val="16181B"/>
          </a:solidFill>
          <a:ln w="12700">
            <a:solidFill>
              <a:srgbClr val="16181B"/>
            </a:solidFill>
            <a:prstDash val="solid"/>
          </a:ln>
        </p:spPr>
        <p:txBody>
          <a:bodyPr/>
          <a:lstStyle/>
          <a:p>
            <a:endParaRPr lang="en-US"/>
          </a:p>
        </p:txBody>
      </p:sp>
      <p:sp>
        <p:nvSpPr>
          <p:cNvPr id="26" name="Text 23"/>
          <p:cNvSpPr txBox="1"/>
          <p:nvPr/>
        </p:nvSpPr>
        <p:spPr>
          <a:xfrm>
            <a:off x="859536" y="5440680"/>
            <a:ext cx="10469880" cy="640080"/>
          </a:xfrm>
          <a:prstGeom prst="rect">
            <a:avLst/>
          </a:prstGeom>
          <a:noFill/>
          <a:ln/>
        </p:spPr>
        <p:txBody>
          <a:bodyPr wrap="square" lIns="0" tIns="0" rIns="0" bIns="0" rtlCol="0" anchor="ctr"/>
          <a:lstStyle/>
          <a:p>
            <a:pPr marL="0" indent="0" algn="l">
              <a:lnSpc>
                <a:spcPct val="100000"/>
              </a:lnSpc>
              <a:buNone/>
            </a:pPr>
            <a:r>
              <a:rPr lang="en-US" sz="1600" b="1" dirty="0">
                <a:solidFill>
                  <a:srgbClr val="FF7A29"/>
                </a:solidFill>
                <a:latin typeface="Calibri" pitchFamily="34" charset="0"/>
                <a:ea typeface="Calibri" pitchFamily="34" charset="-122"/>
                <a:cs typeface="Calibri" pitchFamily="34" charset="-120"/>
              </a:rPr>
              <a:t>Each study has its own tests and an AI review; none has an experimental check.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05 · BUILT WITH AI</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Review records of Claude and ChatGPT for dome, Hashin and progressive failure</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8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The AI wrote the code; I designed the workflow, checked Kaw by hand and ran the review process that corrected the code</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AI code is not trusted by default, so the checks I set decide what stays.</a:t>
            </a:r>
            <a:endParaRPr lang="en-US" sz="1800" dirty="0"/>
          </a:p>
        </p:txBody>
      </p:sp>
      <p:sp>
        <p:nvSpPr>
          <p:cNvPr id="10" name="Text 7"/>
          <p:cNvSpPr txBox="1"/>
          <p:nvPr/>
        </p:nvSpPr>
        <p:spPr>
          <a:xfrm>
            <a:off x="640080" y="2377440"/>
            <a:ext cx="512064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A  </a:t>
            </a:r>
            <a:r>
              <a:rPr lang="en-US" sz="1650" b="1" dirty="0">
                <a:solidFill>
                  <a:srgbClr val="16181B"/>
                </a:solidFill>
                <a:latin typeface="Calibri" pitchFamily="34" charset="0"/>
                <a:ea typeface="Calibri" pitchFamily="34" charset="-122"/>
                <a:cs typeface="Calibri" pitchFamily="34" charset="-120"/>
              </a:rPr>
              <a:t>My contribution</a:t>
            </a:r>
            <a:endParaRPr lang="en-US" sz="1650" dirty="0"/>
          </a:p>
        </p:txBody>
      </p:sp>
      <p:sp>
        <p:nvSpPr>
          <p:cNvPr id="11" name="Shape 8"/>
          <p:cNvSpPr/>
          <p:nvPr/>
        </p:nvSpPr>
        <p:spPr>
          <a:xfrm>
            <a:off x="640080" y="2706624"/>
            <a:ext cx="5120640" cy="18288"/>
          </a:xfrm>
          <a:prstGeom prst="rect">
            <a:avLst/>
          </a:prstGeom>
          <a:solidFill>
            <a:srgbClr val="16181B"/>
          </a:solidFill>
          <a:ln w="12700">
            <a:solidFill>
              <a:srgbClr val="16181B"/>
            </a:solidFill>
            <a:prstDash val="solid"/>
          </a:ln>
        </p:spPr>
        <p:txBody>
          <a:bodyPr/>
          <a:lstStyle/>
          <a:p>
            <a:endParaRPr lang="en-US"/>
          </a:p>
        </p:txBody>
      </p:sp>
      <p:sp>
        <p:nvSpPr>
          <p:cNvPr id="12" name="Text 9"/>
          <p:cNvSpPr txBox="1"/>
          <p:nvPr/>
        </p:nvSpPr>
        <p:spPr>
          <a:xfrm>
            <a:off x="640080" y="2926080"/>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3" name="Text 10"/>
          <p:cNvSpPr txBox="1"/>
          <p:nvPr/>
        </p:nvSpPr>
        <p:spPr>
          <a:xfrm>
            <a:off x="896112" y="2852928"/>
            <a:ext cx="4864608" cy="731520"/>
          </a:xfrm>
          <a:prstGeom prst="rect">
            <a:avLst/>
          </a:prstGeom>
          <a:noFill/>
          <a:ln/>
        </p:spPr>
        <p:txBody>
          <a:bodyPr wrap="square" lIns="0" tIns="0" rIns="0" bIns="0" rtlCol="0" anchor="t"/>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I designed the workflow: order of operations and sections, so a reader can follow material → laminate response → failure.</a:t>
            </a:r>
            <a:endParaRPr lang="en-US" sz="1400" dirty="0"/>
          </a:p>
        </p:txBody>
      </p:sp>
      <p:sp>
        <p:nvSpPr>
          <p:cNvPr id="14" name="Text 11"/>
          <p:cNvSpPr txBox="1"/>
          <p:nvPr/>
        </p:nvSpPr>
        <p:spPr>
          <a:xfrm>
            <a:off x="640080" y="3685032"/>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5" name="Text 12"/>
          <p:cNvSpPr txBox="1"/>
          <p:nvPr/>
        </p:nvSpPr>
        <p:spPr>
          <a:xfrm>
            <a:off x="896112" y="3611880"/>
            <a:ext cx="4864608" cy="731520"/>
          </a:xfrm>
          <a:prstGeom prst="rect">
            <a:avLst/>
          </a:prstGeom>
          <a:noFill/>
          <a:ln/>
        </p:spPr>
        <p:txBody>
          <a:bodyPr wrap="square" lIns="0" tIns="0" rIns="0" bIns="0" rtlCol="0" anchor="t"/>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I checked Kaw's example by hand and in the app, and built side-by-side book pages and screenshots. My question about ply load added part (e).</a:t>
            </a:r>
            <a:endParaRPr lang="en-US" sz="1400" dirty="0"/>
          </a:p>
        </p:txBody>
      </p:sp>
      <p:sp>
        <p:nvSpPr>
          <p:cNvPr id="16" name="Text 13"/>
          <p:cNvSpPr txBox="1"/>
          <p:nvPr/>
        </p:nvSpPr>
        <p:spPr>
          <a:xfrm>
            <a:off x="640080" y="4443984"/>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7" name="Text 14"/>
          <p:cNvSpPr txBox="1"/>
          <p:nvPr/>
        </p:nvSpPr>
        <p:spPr>
          <a:xfrm>
            <a:off x="896112" y="4370832"/>
            <a:ext cx="4864608" cy="731520"/>
          </a:xfrm>
          <a:prstGeom prst="rect">
            <a:avLst/>
          </a:prstGeom>
          <a:noFill/>
          <a:ln/>
        </p:spPr>
        <p:txBody>
          <a:bodyPr wrap="square" lIns="0" tIns="0" rIns="0" bIns="0" rtlCol="0" anchor="t"/>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I ran the AI review: Claude wrote, ChatGPT reviewed, Claude and myself verified each finding by derivation or test. My rules: sourced data, no fitting, full tests.</a:t>
            </a:r>
            <a:endParaRPr lang="en-US" sz="1400" dirty="0"/>
          </a:p>
        </p:txBody>
      </p:sp>
      <p:sp>
        <p:nvSpPr>
          <p:cNvPr id="18" name="Text 15"/>
          <p:cNvSpPr txBox="1"/>
          <p:nvPr/>
        </p:nvSpPr>
        <p:spPr>
          <a:xfrm>
            <a:off x="640080" y="5202936"/>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9" name="Text 16"/>
          <p:cNvSpPr txBox="1"/>
          <p:nvPr/>
        </p:nvSpPr>
        <p:spPr>
          <a:xfrm>
            <a:off x="896112" y="5129784"/>
            <a:ext cx="4864608" cy="731520"/>
          </a:xfrm>
          <a:prstGeom prst="rect">
            <a:avLst/>
          </a:prstGeom>
          <a:noFill/>
          <a:ln/>
        </p:spPr>
        <p:txBody>
          <a:bodyPr wrap="square" lIns="0" tIns="0" rIns="0" bIns="0" rtlCol="0" anchor="t"/>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I planned the sequence, prompts and checks, and stopped work that went the wrong way.</a:t>
            </a:r>
            <a:endParaRPr lang="en-US" sz="1400" dirty="0"/>
          </a:p>
        </p:txBody>
      </p:sp>
      <p:sp>
        <p:nvSpPr>
          <p:cNvPr id="20" name="Text 17"/>
          <p:cNvSpPr txBox="1"/>
          <p:nvPr/>
        </p:nvSpPr>
        <p:spPr>
          <a:xfrm>
            <a:off x="6336792" y="2377440"/>
            <a:ext cx="521208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B  </a:t>
            </a:r>
            <a:r>
              <a:rPr lang="en-US" sz="1650" b="1" dirty="0">
                <a:solidFill>
                  <a:srgbClr val="16181B"/>
                </a:solidFill>
                <a:latin typeface="Calibri" pitchFamily="34" charset="0"/>
                <a:ea typeface="Calibri" pitchFamily="34" charset="-122"/>
                <a:cs typeface="Calibri" pitchFamily="34" charset="-120"/>
              </a:rPr>
              <a:t>What the review found</a:t>
            </a:r>
            <a:endParaRPr lang="en-US" sz="1650" dirty="0"/>
          </a:p>
        </p:txBody>
      </p:sp>
      <p:sp>
        <p:nvSpPr>
          <p:cNvPr id="21" name="Shape 18"/>
          <p:cNvSpPr/>
          <p:nvPr/>
        </p:nvSpPr>
        <p:spPr>
          <a:xfrm>
            <a:off x="6336792" y="2706624"/>
            <a:ext cx="5212080" cy="18288"/>
          </a:xfrm>
          <a:prstGeom prst="rect">
            <a:avLst/>
          </a:prstGeom>
          <a:solidFill>
            <a:srgbClr val="16181B"/>
          </a:solidFill>
          <a:ln w="12700">
            <a:solidFill>
              <a:srgbClr val="16181B"/>
            </a:solidFill>
            <a:prstDash val="solid"/>
          </a:ln>
        </p:spPr>
        <p:txBody>
          <a:bodyPr/>
          <a:lstStyle/>
          <a:p>
            <a:endParaRPr lang="en-US"/>
          </a:p>
        </p:txBody>
      </p:sp>
      <p:sp>
        <p:nvSpPr>
          <p:cNvPr id="22" name="Text 19"/>
          <p:cNvSpPr txBox="1"/>
          <p:nvPr/>
        </p:nvSpPr>
        <p:spPr>
          <a:xfrm>
            <a:off x="6336792" y="2834640"/>
            <a:ext cx="2377440" cy="41148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22 comments</a:t>
            </a:r>
            <a:endParaRPr lang="en-US" sz="2700" dirty="0"/>
          </a:p>
        </p:txBody>
      </p:sp>
      <p:sp>
        <p:nvSpPr>
          <p:cNvPr id="23" name="Text 20"/>
          <p:cNvSpPr txBox="1"/>
          <p:nvPr/>
        </p:nvSpPr>
        <p:spPr>
          <a:xfrm>
            <a:off x="8778240" y="2834640"/>
            <a:ext cx="2770632" cy="548640"/>
          </a:xfrm>
          <a:prstGeom prst="rect">
            <a:avLst/>
          </a:prstGeom>
          <a:noFill/>
          <a:ln/>
        </p:spPr>
        <p:txBody>
          <a:bodyPr wrap="square" lIns="0" tIns="0" rIns="0" bIns="0" rtlCol="0" anchor="t"/>
          <a:lstStyle/>
          <a:p>
            <a:pPr marL="0" indent="0" algn="l">
              <a:lnSpc>
                <a:spcPct val="100000"/>
              </a:lnSpc>
              <a:buNone/>
            </a:pPr>
            <a:r>
              <a:rPr lang="en-US" sz="1300" dirty="0">
                <a:solidFill>
                  <a:srgbClr val="6B6F76"/>
                </a:solidFill>
                <a:latin typeface="Calibri" pitchFamily="34" charset="0"/>
                <a:ea typeface="Calibri" pitchFamily="34" charset="-122"/>
                <a:cs typeface="Calibri" pitchFamily="34" charset="-120"/>
              </a:rPr>
              <a:t>6 found no error; two audits fixed 10 findings, e.g. netting 5.63 → 4.50 MPa</a:t>
            </a:r>
            <a:endParaRPr lang="en-US" sz="1300" dirty="0"/>
          </a:p>
        </p:txBody>
      </p:sp>
      <p:graphicFrame>
        <p:nvGraphicFramePr>
          <p:cNvPr id="24" name="Chart 0"/>
          <p:cNvGraphicFramePr/>
          <p:nvPr/>
        </p:nvGraphicFramePr>
        <p:xfrm>
          <a:off x="6336792" y="3456432"/>
          <a:ext cx="5212080" cy="1783080"/>
        </p:xfrm>
        <a:graphic>
          <a:graphicData uri="http://schemas.openxmlformats.org/drawingml/2006/chart">
            <c:chart xmlns:c="http://schemas.openxmlformats.org/drawingml/2006/chart" xmlns:r="http://schemas.openxmlformats.org/officeDocument/2006/relationships" r:id="rId5"/>
          </a:graphicData>
        </a:graphic>
      </p:graphicFrame>
      <p:sp>
        <p:nvSpPr>
          <p:cNvPr id="25" name="Shape 21"/>
          <p:cNvSpPr/>
          <p:nvPr/>
        </p:nvSpPr>
        <p:spPr>
          <a:xfrm>
            <a:off x="6336792" y="5349240"/>
            <a:ext cx="5212080" cy="749808"/>
          </a:xfrm>
          <a:prstGeom prst="rect">
            <a:avLst/>
          </a:prstGeom>
          <a:solidFill>
            <a:srgbClr val="16181B"/>
          </a:solidFill>
          <a:ln w="12700">
            <a:solidFill>
              <a:srgbClr val="16181B"/>
            </a:solidFill>
            <a:prstDash val="solid"/>
          </a:ln>
        </p:spPr>
        <p:txBody>
          <a:bodyPr/>
          <a:lstStyle/>
          <a:p>
            <a:endParaRPr lang="en-US"/>
          </a:p>
        </p:txBody>
      </p:sp>
      <p:sp>
        <p:nvSpPr>
          <p:cNvPr id="26" name="Text 22"/>
          <p:cNvSpPr txBox="1"/>
          <p:nvPr/>
        </p:nvSpPr>
        <p:spPr>
          <a:xfrm>
            <a:off x="6556248" y="5349240"/>
            <a:ext cx="4773168" cy="749808"/>
          </a:xfrm>
          <a:prstGeom prst="rect">
            <a:avLst/>
          </a:prstGeom>
          <a:noFill/>
          <a:ln/>
        </p:spPr>
        <p:txBody>
          <a:bodyPr wrap="square" lIns="0" tIns="0" rIns="0" bIns="0" rtlCol="0" anchor="ctr"/>
          <a:lstStyle/>
          <a:p>
            <a:pPr marL="0" indent="0" algn="l">
              <a:lnSpc>
                <a:spcPct val="100000"/>
              </a:lnSpc>
              <a:buNone/>
            </a:pPr>
            <a:r>
              <a:rPr lang="en-US" sz="1350" b="1" dirty="0">
                <a:solidFill>
                  <a:srgbClr val="FF7A29"/>
                </a:solidFill>
                <a:latin typeface="Calibri" pitchFamily="34" charset="0"/>
                <a:ea typeface="Calibri" pitchFamily="34" charset="-122"/>
                <a:cs typeface="Calibri" pitchFamily="34" charset="-120"/>
              </a:rPr>
              <a:t>Each comment was checked by derivation or by running the code; the reviewer's literature remarks were not checked.</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06 · VALIDATION AGAINST KAW · REFERENCE CASE</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Kaw, worked example §4.3, pp. 1–10</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9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Kaw's example follows the app's own workflow: input, model, output, comparison, with printed numbers to check at each step</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Every intermediate result is printed in the book, so each stage can be checked, not only the final answer.</a:t>
            </a:r>
            <a:endParaRPr lang="en-US" sz="1800" dirty="0"/>
          </a:p>
        </p:txBody>
      </p:sp>
      <p:sp>
        <p:nvSpPr>
          <p:cNvPr id="10" name="Text 7"/>
          <p:cNvSpPr txBox="1"/>
          <p:nvPr/>
        </p:nvSpPr>
        <p:spPr>
          <a:xfrm>
            <a:off x="640080" y="2359152"/>
            <a:ext cx="251460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1  </a:t>
            </a:r>
            <a:r>
              <a:rPr lang="en-US" sz="1650" b="1" dirty="0">
                <a:solidFill>
                  <a:srgbClr val="16181B"/>
                </a:solidFill>
                <a:latin typeface="Calibri" pitchFamily="34" charset="0"/>
                <a:ea typeface="Calibri" pitchFamily="34" charset="-122"/>
                <a:cs typeface="Calibri" pitchFamily="34" charset="-120"/>
              </a:rPr>
              <a:t>Input</a:t>
            </a:r>
            <a:endParaRPr lang="en-US" sz="1650" dirty="0"/>
          </a:p>
        </p:txBody>
      </p:sp>
      <p:sp>
        <p:nvSpPr>
          <p:cNvPr id="11" name="Shape 8"/>
          <p:cNvSpPr/>
          <p:nvPr/>
        </p:nvSpPr>
        <p:spPr>
          <a:xfrm>
            <a:off x="640080" y="2688336"/>
            <a:ext cx="2514600" cy="18288"/>
          </a:xfrm>
          <a:prstGeom prst="rect">
            <a:avLst/>
          </a:prstGeom>
          <a:solidFill>
            <a:srgbClr val="16181B"/>
          </a:solidFill>
          <a:ln w="12700">
            <a:solidFill>
              <a:srgbClr val="16181B"/>
            </a:solidFill>
            <a:prstDash val="solid"/>
          </a:ln>
        </p:spPr>
        <p:txBody>
          <a:bodyPr/>
          <a:lstStyle/>
          <a:p>
            <a:endParaRPr lang="en-US"/>
          </a:p>
        </p:txBody>
      </p:sp>
      <p:sp>
        <p:nvSpPr>
          <p:cNvPr id="12" name="Text 9"/>
          <p:cNvSpPr txBox="1"/>
          <p:nvPr/>
        </p:nvSpPr>
        <p:spPr>
          <a:xfrm>
            <a:off x="640080" y="2788920"/>
            <a:ext cx="2514600" cy="1280160"/>
          </a:xfrm>
          <a:prstGeom prst="rect">
            <a:avLst/>
          </a:prstGeom>
          <a:noFill/>
          <a:ln/>
        </p:spPr>
        <p:txBody>
          <a:bodyPr wrap="square" lIns="0" tIns="0" rIns="0" bIns="0" rtlCol="0" anchor="t"/>
          <a:lstStyle/>
          <a:p>
            <a:pPr marL="0" indent="0" algn="l">
              <a:lnSpc>
                <a:spcPct val="100000"/>
              </a:lnSpc>
              <a:buNone/>
            </a:pPr>
            <a:r>
              <a:rPr lang="en-US" sz="1500" dirty="0">
                <a:solidFill>
                  <a:srgbClr val="16181B"/>
                </a:solidFill>
                <a:latin typeface="Calibri" pitchFamily="34" charset="0"/>
                <a:ea typeface="Calibri" pitchFamily="34" charset="-122"/>
                <a:cs typeface="Calibri" pitchFamily="34" charset="-120"/>
              </a:rPr>
              <a:t>Glass/epoxy E1 38.6, E2 8.27, G12 4.14 GPa, ν12 0.26; 5 mm plies; stack [30/−45/−60]; Nx 1500 N/m, My 1500 N.</a:t>
            </a:r>
            <a:endParaRPr lang="en-US" sz="1500" dirty="0"/>
          </a:p>
        </p:txBody>
      </p:sp>
      <p:sp>
        <p:nvSpPr>
          <p:cNvPr id="13" name="Text 10"/>
          <p:cNvSpPr txBox="1"/>
          <p:nvPr/>
        </p:nvSpPr>
        <p:spPr>
          <a:xfrm>
            <a:off x="640080" y="4069080"/>
            <a:ext cx="2514600" cy="457200"/>
          </a:xfrm>
          <a:prstGeom prst="rect">
            <a:avLst/>
          </a:prstGeom>
          <a:noFill/>
          <a:ln/>
        </p:spPr>
        <p:txBody>
          <a:bodyPr wrap="square" lIns="0" tIns="0" rIns="0" bIns="0" rtlCol="0" anchor="t"/>
          <a:lstStyle/>
          <a:p>
            <a:pPr marL="0" indent="0" algn="l">
              <a:lnSpc>
                <a:spcPct val="100000"/>
              </a:lnSpc>
              <a:buNone/>
            </a:pPr>
            <a:r>
              <a:rPr lang="en-US" sz="1350" dirty="0">
                <a:solidFill>
                  <a:srgbClr val="6B6F76"/>
                </a:solidFill>
                <a:latin typeface="Calibri" pitchFamily="34" charset="0"/>
                <a:ea typeface="Calibri" pitchFamily="34" charset="-122"/>
                <a:cs typeface="Calibri" pitchFamily="34" charset="-120"/>
              </a:rPr>
              <a:t>typed in unchanged, nothing fitted</a:t>
            </a:r>
            <a:endParaRPr lang="en-US" sz="1350" dirty="0"/>
          </a:p>
        </p:txBody>
      </p:sp>
      <p:sp>
        <p:nvSpPr>
          <p:cNvPr id="14" name="Text 11"/>
          <p:cNvSpPr txBox="1"/>
          <p:nvPr/>
        </p:nvSpPr>
        <p:spPr>
          <a:xfrm>
            <a:off x="3154680" y="2322576"/>
            <a:ext cx="283464" cy="310896"/>
          </a:xfrm>
          <a:prstGeom prst="rect">
            <a:avLst/>
          </a:prstGeom>
          <a:noFill/>
          <a:ln/>
        </p:spPr>
        <p:txBody>
          <a:bodyPr wrap="square" lIns="0" tIns="0" rIns="0" bIns="0" rtlCol="0" anchor="ctr"/>
          <a:lstStyle/>
          <a:p>
            <a:pPr marL="0" indent="0" algn="ctr">
              <a:lnSpc>
                <a:spcPct val="100000"/>
              </a:lnSpc>
              <a:buNone/>
            </a:pPr>
            <a:r>
              <a:rPr lang="en-US" sz="2000" b="1" dirty="0">
                <a:solidFill>
                  <a:srgbClr val="FF7A29"/>
                </a:solidFill>
                <a:latin typeface="Calibri" pitchFamily="34" charset="0"/>
                <a:ea typeface="Calibri" pitchFamily="34" charset="-122"/>
                <a:cs typeface="Calibri" pitchFamily="34" charset="-120"/>
              </a:rPr>
              <a:t>→</a:t>
            </a:r>
            <a:endParaRPr lang="en-US" sz="2000" dirty="0"/>
          </a:p>
        </p:txBody>
      </p:sp>
      <p:sp>
        <p:nvSpPr>
          <p:cNvPr id="15" name="Text 12"/>
          <p:cNvSpPr txBox="1"/>
          <p:nvPr/>
        </p:nvSpPr>
        <p:spPr>
          <a:xfrm>
            <a:off x="3438144" y="2359152"/>
            <a:ext cx="251460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2  </a:t>
            </a:r>
            <a:r>
              <a:rPr lang="en-US" sz="1650" b="1" dirty="0">
                <a:solidFill>
                  <a:srgbClr val="16181B"/>
                </a:solidFill>
                <a:latin typeface="Calibri" pitchFamily="34" charset="0"/>
                <a:ea typeface="Calibri" pitchFamily="34" charset="-122"/>
                <a:cs typeface="Calibri" pitchFamily="34" charset="-120"/>
              </a:rPr>
              <a:t>Model</a:t>
            </a:r>
            <a:endParaRPr lang="en-US" sz="1650" dirty="0"/>
          </a:p>
        </p:txBody>
      </p:sp>
      <p:sp>
        <p:nvSpPr>
          <p:cNvPr id="16" name="Shape 13"/>
          <p:cNvSpPr/>
          <p:nvPr/>
        </p:nvSpPr>
        <p:spPr>
          <a:xfrm>
            <a:off x="3438144" y="2688336"/>
            <a:ext cx="2514600" cy="18288"/>
          </a:xfrm>
          <a:prstGeom prst="rect">
            <a:avLst/>
          </a:prstGeom>
          <a:solidFill>
            <a:srgbClr val="16181B"/>
          </a:solidFill>
          <a:ln w="12700">
            <a:solidFill>
              <a:srgbClr val="16181B"/>
            </a:solidFill>
            <a:prstDash val="solid"/>
          </a:ln>
        </p:spPr>
        <p:txBody>
          <a:bodyPr/>
          <a:lstStyle/>
          <a:p>
            <a:endParaRPr lang="en-US"/>
          </a:p>
        </p:txBody>
      </p:sp>
      <p:sp>
        <p:nvSpPr>
          <p:cNvPr id="17" name="Text 14"/>
          <p:cNvSpPr txBox="1"/>
          <p:nvPr/>
        </p:nvSpPr>
        <p:spPr>
          <a:xfrm>
            <a:off x="3438144" y="2788920"/>
            <a:ext cx="2514600" cy="1280160"/>
          </a:xfrm>
          <a:prstGeom prst="rect">
            <a:avLst/>
          </a:prstGeom>
          <a:noFill/>
          <a:ln/>
        </p:spPr>
        <p:txBody>
          <a:bodyPr wrap="square" lIns="0" tIns="0" rIns="0" bIns="0" rtlCol="0" anchor="t"/>
          <a:lstStyle/>
          <a:p>
            <a:pPr marL="0" indent="0" algn="l">
              <a:lnSpc>
                <a:spcPct val="100000"/>
              </a:lnSpc>
              <a:buNone/>
            </a:pPr>
            <a:r>
              <a:rPr lang="en-US" sz="1500" dirty="0">
                <a:solidFill>
                  <a:srgbClr val="16181B"/>
                </a:solidFill>
                <a:latin typeface="Calibri" pitchFamily="34" charset="0"/>
                <a:ea typeface="Calibri" pitchFamily="34" charset="-122"/>
                <a:cs typeface="Calibri" pitchFamily="34" charset="-120"/>
              </a:rPr>
              <a:t>Q → Q-bar per ply → A, B, D → mid-plane strain and curvature → ply stress.</a:t>
            </a:r>
            <a:endParaRPr lang="en-US" sz="1500" dirty="0"/>
          </a:p>
        </p:txBody>
      </p:sp>
      <p:sp>
        <p:nvSpPr>
          <p:cNvPr id="18" name="Text 15"/>
          <p:cNvSpPr txBox="1"/>
          <p:nvPr/>
        </p:nvSpPr>
        <p:spPr>
          <a:xfrm>
            <a:off x="3438144" y="4069080"/>
            <a:ext cx="2514600" cy="457200"/>
          </a:xfrm>
          <a:prstGeom prst="rect">
            <a:avLst/>
          </a:prstGeom>
          <a:noFill/>
          <a:ln/>
        </p:spPr>
        <p:txBody>
          <a:bodyPr wrap="square" lIns="0" tIns="0" rIns="0" bIns="0" rtlCol="0" anchor="t"/>
          <a:lstStyle/>
          <a:p>
            <a:pPr marL="0" indent="0" algn="l">
              <a:lnSpc>
                <a:spcPct val="100000"/>
              </a:lnSpc>
              <a:buNone/>
            </a:pPr>
            <a:r>
              <a:rPr lang="en-US" sz="1350" dirty="0">
                <a:solidFill>
                  <a:srgbClr val="6B6F76"/>
                </a:solidFill>
                <a:latin typeface="Calibri" pitchFamily="34" charset="0"/>
                <a:ea typeface="Calibri" pitchFamily="34" charset="-122"/>
                <a:cs typeface="Calibri" pitchFamily="34" charset="-120"/>
              </a:rPr>
              <a:t>unsymmetric stack: B ≠ 0, stretching and bending couple</a:t>
            </a:r>
            <a:endParaRPr lang="en-US" sz="1350" dirty="0"/>
          </a:p>
        </p:txBody>
      </p:sp>
      <p:sp>
        <p:nvSpPr>
          <p:cNvPr id="19" name="Text 16"/>
          <p:cNvSpPr txBox="1"/>
          <p:nvPr/>
        </p:nvSpPr>
        <p:spPr>
          <a:xfrm>
            <a:off x="5952744" y="2322576"/>
            <a:ext cx="283464" cy="310896"/>
          </a:xfrm>
          <a:prstGeom prst="rect">
            <a:avLst/>
          </a:prstGeom>
          <a:noFill/>
          <a:ln/>
        </p:spPr>
        <p:txBody>
          <a:bodyPr wrap="square" lIns="0" tIns="0" rIns="0" bIns="0" rtlCol="0" anchor="ctr"/>
          <a:lstStyle/>
          <a:p>
            <a:pPr marL="0" indent="0" algn="ctr">
              <a:lnSpc>
                <a:spcPct val="100000"/>
              </a:lnSpc>
              <a:buNone/>
            </a:pPr>
            <a:r>
              <a:rPr lang="en-US" sz="2000" b="1" dirty="0">
                <a:solidFill>
                  <a:srgbClr val="FF7A29"/>
                </a:solidFill>
                <a:latin typeface="Calibri" pitchFamily="34" charset="0"/>
                <a:ea typeface="Calibri" pitchFamily="34" charset="-122"/>
                <a:cs typeface="Calibri" pitchFamily="34" charset="-120"/>
              </a:rPr>
              <a:t>→</a:t>
            </a:r>
            <a:endParaRPr lang="en-US" sz="2000" dirty="0"/>
          </a:p>
        </p:txBody>
      </p:sp>
      <p:sp>
        <p:nvSpPr>
          <p:cNvPr id="20" name="Text 17"/>
          <p:cNvSpPr txBox="1"/>
          <p:nvPr/>
        </p:nvSpPr>
        <p:spPr>
          <a:xfrm>
            <a:off x="6236208" y="2359152"/>
            <a:ext cx="251460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3  </a:t>
            </a:r>
            <a:r>
              <a:rPr lang="en-US" sz="1650" b="1" dirty="0">
                <a:solidFill>
                  <a:srgbClr val="16181B"/>
                </a:solidFill>
                <a:latin typeface="Calibri" pitchFamily="34" charset="0"/>
                <a:ea typeface="Calibri" pitchFamily="34" charset="-122"/>
                <a:cs typeface="Calibri" pitchFamily="34" charset="-120"/>
              </a:rPr>
              <a:t>Output</a:t>
            </a:r>
            <a:endParaRPr lang="en-US" sz="1650" dirty="0"/>
          </a:p>
        </p:txBody>
      </p:sp>
      <p:sp>
        <p:nvSpPr>
          <p:cNvPr id="21" name="Shape 18"/>
          <p:cNvSpPr/>
          <p:nvPr/>
        </p:nvSpPr>
        <p:spPr>
          <a:xfrm>
            <a:off x="6236208" y="2688336"/>
            <a:ext cx="2514600" cy="18288"/>
          </a:xfrm>
          <a:prstGeom prst="rect">
            <a:avLst/>
          </a:prstGeom>
          <a:solidFill>
            <a:srgbClr val="16181B"/>
          </a:solidFill>
          <a:ln w="12700">
            <a:solidFill>
              <a:srgbClr val="16181B"/>
            </a:solidFill>
            <a:prstDash val="solid"/>
          </a:ln>
        </p:spPr>
        <p:txBody>
          <a:bodyPr/>
          <a:lstStyle/>
          <a:p>
            <a:endParaRPr lang="en-US"/>
          </a:p>
        </p:txBody>
      </p:sp>
      <p:sp>
        <p:nvSpPr>
          <p:cNvPr id="22" name="Text 19"/>
          <p:cNvSpPr txBox="1"/>
          <p:nvPr/>
        </p:nvSpPr>
        <p:spPr>
          <a:xfrm>
            <a:off x="6236208" y="2788920"/>
            <a:ext cx="2514600" cy="1280160"/>
          </a:xfrm>
          <a:prstGeom prst="rect">
            <a:avLst/>
          </a:prstGeom>
          <a:noFill/>
          <a:ln/>
        </p:spPr>
        <p:txBody>
          <a:bodyPr wrap="square" lIns="0" tIns="0" rIns="0" bIns="0" rtlCol="0" anchor="t"/>
          <a:lstStyle/>
          <a:p>
            <a:pPr marL="0" indent="0" algn="l">
              <a:lnSpc>
                <a:spcPct val="100000"/>
              </a:lnSpc>
              <a:buNone/>
            </a:pPr>
            <a:r>
              <a:rPr lang="en-US" sz="1500" dirty="0">
                <a:solidFill>
                  <a:srgbClr val="16181B"/>
                </a:solidFill>
                <a:latin typeface="Calibri" pitchFamily="34" charset="0"/>
                <a:ea typeface="Calibri" pitchFamily="34" charset="-122"/>
                <a:cs typeface="Calibri" pitchFamily="34" charset="-120"/>
              </a:rPr>
              <a:t>A11 273.46 MN/m, εx 162.36 µε, ply 2 σ1 −20.43 MPa, ply forces 12 920, −20 596 and 9 176 N/m.</a:t>
            </a:r>
            <a:endParaRPr lang="en-US" sz="1500" dirty="0"/>
          </a:p>
        </p:txBody>
      </p:sp>
      <p:sp>
        <p:nvSpPr>
          <p:cNvPr id="23" name="Text 20"/>
          <p:cNvSpPr txBox="1"/>
          <p:nvPr/>
        </p:nvSpPr>
        <p:spPr>
          <a:xfrm>
            <a:off x="6236208" y="4069080"/>
            <a:ext cx="2514600" cy="457200"/>
          </a:xfrm>
          <a:prstGeom prst="rect">
            <a:avLst/>
          </a:prstGeom>
          <a:noFill/>
          <a:ln/>
        </p:spPr>
        <p:txBody>
          <a:bodyPr wrap="square" lIns="0" tIns="0" rIns="0" bIns="0" rtlCol="0" anchor="t"/>
          <a:lstStyle/>
          <a:p>
            <a:pPr marL="0" indent="0" algn="l">
              <a:lnSpc>
                <a:spcPct val="100000"/>
              </a:lnSpc>
              <a:buNone/>
            </a:pPr>
            <a:r>
              <a:rPr lang="en-US" sz="1350" dirty="0">
                <a:solidFill>
                  <a:srgbClr val="6B6F76"/>
                </a:solidFill>
                <a:latin typeface="Calibri" pitchFamily="34" charset="0"/>
                <a:ea typeface="Calibri" pitchFamily="34" charset="-122"/>
                <a:cs typeface="Calibri" pitchFamily="34" charset="-120"/>
              </a:rPr>
              <a:t>read from the app tabs</a:t>
            </a:r>
            <a:endParaRPr lang="en-US" sz="1350" dirty="0"/>
          </a:p>
        </p:txBody>
      </p:sp>
      <p:sp>
        <p:nvSpPr>
          <p:cNvPr id="24" name="Text 21"/>
          <p:cNvSpPr txBox="1"/>
          <p:nvPr/>
        </p:nvSpPr>
        <p:spPr>
          <a:xfrm>
            <a:off x="8750808" y="2322576"/>
            <a:ext cx="283464" cy="310896"/>
          </a:xfrm>
          <a:prstGeom prst="rect">
            <a:avLst/>
          </a:prstGeom>
          <a:noFill/>
          <a:ln/>
        </p:spPr>
        <p:txBody>
          <a:bodyPr wrap="square" lIns="0" tIns="0" rIns="0" bIns="0" rtlCol="0" anchor="ctr"/>
          <a:lstStyle/>
          <a:p>
            <a:pPr marL="0" indent="0" algn="ctr">
              <a:lnSpc>
                <a:spcPct val="100000"/>
              </a:lnSpc>
              <a:buNone/>
            </a:pPr>
            <a:r>
              <a:rPr lang="en-US" sz="2000" b="1" dirty="0">
                <a:solidFill>
                  <a:srgbClr val="FF7A29"/>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9034272" y="2359152"/>
            <a:ext cx="251460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FF7A29"/>
                </a:solidFill>
                <a:latin typeface="Calibri" pitchFamily="34" charset="0"/>
                <a:ea typeface="Calibri" pitchFamily="34" charset="-122"/>
                <a:cs typeface="Calibri" pitchFamily="34" charset="-120"/>
              </a:rPr>
              <a:t>4  </a:t>
            </a:r>
            <a:r>
              <a:rPr lang="en-US" sz="1650" b="1" dirty="0">
                <a:solidFill>
                  <a:srgbClr val="16181B"/>
                </a:solidFill>
                <a:latin typeface="Calibri" pitchFamily="34" charset="0"/>
                <a:ea typeface="Calibri" pitchFamily="34" charset="-122"/>
                <a:cs typeface="Calibri" pitchFamily="34" charset="-120"/>
              </a:rPr>
              <a:t>Comparison</a:t>
            </a:r>
            <a:endParaRPr lang="en-US" sz="1650" dirty="0"/>
          </a:p>
        </p:txBody>
      </p:sp>
      <p:sp>
        <p:nvSpPr>
          <p:cNvPr id="26" name="Shape 23"/>
          <p:cNvSpPr/>
          <p:nvPr/>
        </p:nvSpPr>
        <p:spPr>
          <a:xfrm>
            <a:off x="9034272" y="2688336"/>
            <a:ext cx="2514600" cy="18288"/>
          </a:xfrm>
          <a:prstGeom prst="rect">
            <a:avLst/>
          </a:prstGeom>
          <a:solidFill>
            <a:srgbClr val="16181B"/>
          </a:solidFill>
          <a:ln w="12700">
            <a:solidFill>
              <a:srgbClr val="16181B"/>
            </a:solidFill>
            <a:prstDash val="solid"/>
          </a:ln>
        </p:spPr>
        <p:txBody>
          <a:bodyPr/>
          <a:lstStyle/>
          <a:p>
            <a:endParaRPr lang="en-US"/>
          </a:p>
        </p:txBody>
      </p:sp>
      <p:sp>
        <p:nvSpPr>
          <p:cNvPr id="27" name="Text 24"/>
          <p:cNvSpPr txBox="1"/>
          <p:nvPr/>
        </p:nvSpPr>
        <p:spPr>
          <a:xfrm>
            <a:off x="9034272" y="2788920"/>
            <a:ext cx="2514600" cy="1280160"/>
          </a:xfrm>
          <a:prstGeom prst="rect">
            <a:avLst/>
          </a:prstGeom>
          <a:noFill/>
          <a:ln/>
        </p:spPr>
        <p:txBody>
          <a:bodyPr wrap="square" lIns="0" tIns="0" rIns="0" bIns="0" rtlCol="0" anchor="t"/>
          <a:lstStyle/>
          <a:p>
            <a:pPr marL="0" indent="0" algn="l">
              <a:lnSpc>
                <a:spcPct val="100000"/>
              </a:lnSpc>
              <a:buNone/>
            </a:pPr>
            <a:r>
              <a:rPr lang="en-US" sz="1500" dirty="0">
                <a:solidFill>
                  <a:srgbClr val="16181B"/>
                </a:solidFill>
                <a:latin typeface="Calibri" pitchFamily="34" charset="0"/>
                <a:ea typeface="Calibri" pitchFamily="34" charset="-122"/>
                <a:cs typeface="Calibri" pitchFamily="34" charset="-120"/>
              </a:rPr>
              <a:t>126 printed values of the book: Q, Q-bar, A, B, D, strain, stress, ply force.</a:t>
            </a:r>
            <a:endParaRPr lang="en-US" sz="1500" dirty="0"/>
          </a:p>
        </p:txBody>
      </p:sp>
      <p:sp>
        <p:nvSpPr>
          <p:cNvPr id="28" name="Text 25"/>
          <p:cNvSpPr txBox="1"/>
          <p:nvPr/>
        </p:nvSpPr>
        <p:spPr>
          <a:xfrm>
            <a:off x="9034272" y="4069080"/>
            <a:ext cx="2514600" cy="457200"/>
          </a:xfrm>
          <a:prstGeom prst="rect">
            <a:avLst/>
          </a:prstGeom>
          <a:noFill/>
          <a:ln/>
        </p:spPr>
        <p:txBody>
          <a:bodyPr wrap="square" lIns="0" tIns="0" rIns="0" bIns="0" rtlCol="0" anchor="t"/>
          <a:lstStyle/>
          <a:p>
            <a:pPr marL="0" indent="0" algn="l">
              <a:lnSpc>
                <a:spcPct val="100000"/>
              </a:lnSpc>
              <a:buNone/>
            </a:pPr>
            <a:r>
              <a:rPr lang="en-US" sz="1350" dirty="0">
                <a:solidFill>
                  <a:srgbClr val="6B6F76"/>
                </a:solidFill>
                <a:latin typeface="Calibri" pitchFamily="34" charset="0"/>
                <a:ea typeface="Calibri" pitchFamily="34" charset="-122"/>
                <a:cs typeface="Calibri" pitchFamily="34" charset="-120"/>
              </a:rPr>
              <a:t>each against its source-based tolerance</a:t>
            </a:r>
            <a:endParaRPr lang="en-US" sz="1350" dirty="0"/>
          </a:p>
        </p:txBody>
      </p:sp>
      <p:sp>
        <p:nvSpPr>
          <p:cNvPr id="29" name="Shape 26"/>
          <p:cNvSpPr/>
          <p:nvPr/>
        </p:nvSpPr>
        <p:spPr>
          <a:xfrm>
            <a:off x="2103120" y="4590288"/>
            <a:ext cx="1737360" cy="274320"/>
          </a:xfrm>
          <a:prstGeom prst="rect">
            <a:avLst/>
          </a:prstGeom>
          <a:solidFill>
            <a:srgbClr val="FFE2CC"/>
          </a:solidFill>
          <a:ln w="9525">
            <a:solidFill>
              <a:srgbClr val="16181B"/>
            </a:solidFill>
            <a:prstDash val="solid"/>
          </a:ln>
        </p:spPr>
        <p:txBody>
          <a:bodyPr/>
          <a:lstStyle/>
          <a:p>
            <a:endParaRPr lang="en-US"/>
          </a:p>
        </p:txBody>
      </p:sp>
      <p:sp>
        <p:nvSpPr>
          <p:cNvPr id="30" name="Text 27"/>
          <p:cNvSpPr txBox="1"/>
          <p:nvPr/>
        </p:nvSpPr>
        <p:spPr>
          <a:xfrm>
            <a:off x="2103120" y="4590288"/>
            <a:ext cx="1737360" cy="274320"/>
          </a:xfrm>
          <a:prstGeom prst="rect">
            <a:avLst/>
          </a:prstGeom>
          <a:noFill/>
          <a:ln/>
        </p:spPr>
        <p:txBody>
          <a:bodyPr wrap="square" lIns="0" tIns="0" rIns="0" bIns="0" rtlCol="0" anchor="ctr"/>
          <a:lstStyle/>
          <a:p>
            <a:pPr marL="0" indent="0" algn="ctr">
              <a:lnSpc>
                <a:spcPct val="100000"/>
              </a:lnSpc>
              <a:buNone/>
            </a:pPr>
            <a:r>
              <a:rPr lang="en-US" sz="1150" b="1" dirty="0">
                <a:solidFill>
                  <a:srgbClr val="16181B"/>
                </a:solidFill>
                <a:latin typeface="Calibri" pitchFamily="34" charset="0"/>
                <a:ea typeface="Calibri" pitchFamily="34" charset="-122"/>
                <a:cs typeface="Calibri" pitchFamily="34" charset="-120"/>
              </a:rPr>
              <a:t>ply 3 · −60°</a:t>
            </a:r>
            <a:endParaRPr lang="en-US" sz="1150" dirty="0"/>
          </a:p>
        </p:txBody>
      </p:sp>
      <p:sp>
        <p:nvSpPr>
          <p:cNvPr id="31" name="Text 28"/>
          <p:cNvSpPr txBox="1"/>
          <p:nvPr/>
        </p:nvSpPr>
        <p:spPr>
          <a:xfrm>
            <a:off x="640080" y="4590288"/>
            <a:ext cx="1371600" cy="274320"/>
          </a:xfrm>
          <a:prstGeom prst="rect">
            <a:avLst/>
          </a:prstGeom>
          <a:noFill/>
          <a:ln/>
        </p:spPr>
        <p:txBody>
          <a:bodyPr wrap="square" lIns="0" tIns="0" rIns="0" bIns="0" rtlCol="0" anchor="ctr"/>
          <a:lstStyle/>
          <a:p>
            <a:pPr marL="0" indent="0" algn="r">
              <a:lnSpc>
                <a:spcPct val="100000"/>
              </a:lnSpc>
              <a:buNone/>
            </a:pPr>
            <a:r>
              <a:rPr lang="en-US" sz="1100" dirty="0">
                <a:solidFill>
                  <a:srgbClr val="6B6F76"/>
                </a:solidFill>
                <a:latin typeface="Calibri" pitchFamily="34" charset="0"/>
                <a:ea typeface="Calibri" pitchFamily="34" charset="-122"/>
                <a:cs typeface="Calibri" pitchFamily="34" charset="-120"/>
              </a:rPr>
              <a:t>2.5 … 7.5</a:t>
            </a:r>
            <a:endParaRPr lang="en-US" sz="1100" dirty="0"/>
          </a:p>
        </p:txBody>
      </p:sp>
      <p:sp>
        <p:nvSpPr>
          <p:cNvPr id="32" name="Shape 29"/>
          <p:cNvSpPr/>
          <p:nvPr/>
        </p:nvSpPr>
        <p:spPr>
          <a:xfrm>
            <a:off x="2103120" y="4864608"/>
            <a:ext cx="1737360" cy="274320"/>
          </a:xfrm>
          <a:prstGeom prst="rect">
            <a:avLst/>
          </a:prstGeom>
          <a:solidFill>
            <a:srgbClr val="FFE2CC"/>
          </a:solidFill>
          <a:ln w="9525">
            <a:solidFill>
              <a:srgbClr val="16181B"/>
            </a:solidFill>
            <a:prstDash val="solid"/>
          </a:ln>
        </p:spPr>
        <p:txBody>
          <a:bodyPr/>
          <a:lstStyle/>
          <a:p>
            <a:endParaRPr lang="en-US"/>
          </a:p>
        </p:txBody>
      </p:sp>
      <p:sp>
        <p:nvSpPr>
          <p:cNvPr id="33" name="Text 30"/>
          <p:cNvSpPr txBox="1"/>
          <p:nvPr/>
        </p:nvSpPr>
        <p:spPr>
          <a:xfrm>
            <a:off x="2103120" y="4864608"/>
            <a:ext cx="1737360" cy="274320"/>
          </a:xfrm>
          <a:prstGeom prst="rect">
            <a:avLst/>
          </a:prstGeom>
          <a:noFill/>
          <a:ln/>
        </p:spPr>
        <p:txBody>
          <a:bodyPr wrap="square" lIns="0" tIns="0" rIns="0" bIns="0" rtlCol="0" anchor="ctr"/>
          <a:lstStyle/>
          <a:p>
            <a:pPr marL="0" indent="0" algn="ctr">
              <a:lnSpc>
                <a:spcPct val="100000"/>
              </a:lnSpc>
              <a:buNone/>
            </a:pPr>
            <a:r>
              <a:rPr lang="en-US" sz="1150" b="1" dirty="0">
                <a:solidFill>
                  <a:srgbClr val="16181B"/>
                </a:solidFill>
                <a:latin typeface="Calibri" pitchFamily="34" charset="0"/>
                <a:ea typeface="Calibri" pitchFamily="34" charset="-122"/>
                <a:cs typeface="Calibri" pitchFamily="34" charset="-120"/>
              </a:rPr>
              <a:t>ply 2 · −45°</a:t>
            </a:r>
            <a:endParaRPr lang="en-US" sz="1150" dirty="0"/>
          </a:p>
        </p:txBody>
      </p:sp>
      <p:sp>
        <p:nvSpPr>
          <p:cNvPr id="34" name="Text 31"/>
          <p:cNvSpPr txBox="1"/>
          <p:nvPr/>
        </p:nvSpPr>
        <p:spPr>
          <a:xfrm>
            <a:off x="640080" y="4864608"/>
            <a:ext cx="1371600" cy="274320"/>
          </a:xfrm>
          <a:prstGeom prst="rect">
            <a:avLst/>
          </a:prstGeom>
          <a:noFill/>
          <a:ln/>
        </p:spPr>
        <p:txBody>
          <a:bodyPr wrap="square" lIns="0" tIns="0" rIns="0" bIns="0" rtlCol="0" anchor="ctr"/>
          <a:lstStyle/>
          <a:p>
            <a:pPr marL="0" indent="0" algn="r">
              <a:lnSpc>
                <a:spcPct val="100000"/>
              </a:lnSpc>
              <a:buNone/>
            </a:pPr>
            <a:r>
              <a:rPr lang="en-US" sz="1100" dirty="0">
                <a:solidFill>
                  <a:srgbClr val="6B6F76"/>
                </a:solidFill>
                <a:latin typeface="Calibri" pitchFamily="34" charset="0"/>
                <a:ea typeface="Calibri" pitchFamily="34" charset="-122"/>
                <a:cs typeface="Calibri" pitchFamily="34" charset="-120"/>
              </a:rPr>
              <a:t>−2.5 … 2.5</a:t>
            </a:r>
            <a:endParaRPr lang="en-US" sz="1100" dirty="0"/>
          </a:p>
        </p:txBody>
      </p:sp>
      <p:sp>
        <p:nvSpPr>
          <p:cNvPr id="35" name="Shape 32"/>
          <p:cNvSpPr/>
          <p:nvPr/>
        </p:nvSpPr>
        <p:spPr>
          <a:xfrm>
            <a:off x="2103120" y="5138928"/>
            <a:ext cx="1737360" cy="274320"/>
          </a:xfrm>
          <a:prstGeom prst="rect">
            <a:avLst/>
          </a:prstGeom>
          <a:solidFill>
            <a:srgbClr val="FFE2CC"/>
          </a:solidFill>
          <a:ln w="9525">
            <a:solidFill>
              <a:srgbClr val="16181B"/>
            </a:solidFill>
            <a:prstDash val="solid"/>
          </a:ln>
        </p:spPr>
        <p:txBody>
          <a:bodyPr/>
          <a:lstStyle/>
          <a:p>
            <a:endParaRPr lang="en-US"/>
          </a:p>
        </p:txBody>
      </p:sp>
      <p:sp>
        <p:nvSpPr>
          <p:cNvPr id="36" name="Text 33"/>
          <p:cNvSpPr txBox="1"/>
          <p:nvPr/>
        </p:nvSpPr>
        <p:spPr>
          <a:xfrm>
            <a:off x="2103120" y="5138928"/>
            <a:ext cx="1737360" cy="274320"/>
          </a:xfrm>
          <a:prstGeom prst="rect">
            <a:avLst/>
          </a:prstGeom>
          <a:noFill/>
          <a:ln/>
        </p:spPr>
        <p:txBody>
          <a:bodyPr wrap="square" lIns="0" tIns="0" rIns="0" bIns="0" rtlCol="0" anchor="ctr"/>
          <a:lstStyle/>
          <a:p>
            <a:pPr marL="0" indent="0" algn="ctr">
              <a:lnSpc>
                <a:spcPct val="100000"/>
              </a:lnSpc>
              <a:buNone/>
            </a:pPr>
            <a:r>
              <a:rPr lang="en-US" sz="1150" b="1" dirty="0">
                <a:solidFill>
                  <a:srgbClr val="16181B"/>
                </a:solidFill>
                <a:latin typeface="Calibri" pitchFamily="34" charset="0"/>
                <a:ea typeface="Calibri" pitchFamily="34" charset="-122"/>
                <a:cs typeface="Calibri" pitchFamily="34" charset="-120"/>
              </a:rPr>
              <a:t>ply 1 · 30°</a:t>
            </a:r>
            <a:endParaRPr lang="en-US" sz="1150" dirty="0"/>
          </a:p>
        </p:txBody>
      </p:sp>
      <p:sp>
        <p:nvSpPr>
          <p:cNvPr id="37" name="Text 34"/>
          <p:cNvSpPr txBox="1"/>
          <p:nvPr/>
        </p:nvSpPr>
        <p:spPr>
          <a:xfrm>
            <a:off x="640080" y="5138928"/>
            <a:ext cx="1371600" cy="274320"/>
          </a:xfrm>
          <a:prstGeom prst="rect">
            <a:avLst/>
          </a:prstGeom>
          <a:noFill/>
          <a:ln/>
        </p:spPr>
        <p:txBody>
          <a:bodyPr wrap="square" lIns="0" tIns="0" rIns="0" bIns="0" rtlCol="0" anchor="ctr"/>
          <a:lstStyle/>
          <a:p>
            <a:pPr marL="0" indent="0" algn="r">
              <a:lnSpc>
                <a:spcPct val="100000"/>
              </a:lnSpc>
              <a:buNone/>
            </a:pPr>
            <a:r>
              <a:rPr lang="en-US" sz="1100" dirty="0">
                <a:solidFill>
                  <a:srgbClr val="6B6F76"/>
                </a:solidFill>
                <a:latin typeface="Calibri" pitchFamily="34" charset="0"/>
                <a:ea typeface="Calibri" pitchFamily="34" charset="-122"/>
                <a:cs typeface="Calibri" pitchFamily="34" charset="-120"/>
              </a:rPr>
              <a:t>−7.5 … −2.5</a:t>
            </a:r>
            <a:endParaRPr lang="en-US" sz="1100" dirty="0"/>
          </a:p>
        </p:txBody>
      </p:sp>
      <p:sp>
        <p:nvSpPr>
          <p:cNvPr id="38" name="Text 35"/>
          <p:cNvSpPr txBox="1"/>
          <p:nvPr/>
        </p:nvSpPr>
        <p:spPr>
          <a:xfrm>
            <a:off x="4206240" y="4590288"/>
            <a:ext cx="7342632" cy="822960"/>
          </a:xfrm>
          <a:prstGeom prst="rect">
            <a:avLst/>
          </a:prstGeom>
          <a:noFill/>
          <a:ln/>
        </p:spPr>
        <p:txBody>
          <a:bodyPr wrap="square" lIns="0" tIns="0" rIns="0" bIns="0" rtlCol="0" anchor="t"/>
          <a:lstStyle/>
          <a:p>
            <a:pPr marL="0" indent="0" algn="l">
              <a:lnSpc>
                <a:spcPct val="100000"/>
              </a:lnSpc>
              <a:buNone/>
            </a:pPr>
            <a:r>
              <a:rPr lang="en-US" sz="1300" dirty="0">
                <a:solidFill>
                  <a:srgbClr val="6B6F76"/>
                </a:solidFill>
                <a:latin typeface="Calibri" pitchFamily="34" charset="0"/>
                <a:ea typeface="Calibri" pitchFamily="34" charset="-122"/>
                <a:cs typeface="Calibri" pitchFamily="34" charset="-120"/>
              </a:rPr>
              <a:t>Book z points down, the app's up, so points are paired by numeric z. Kaw p. 7 labels the third local strain γ12/2 but prints the engineering value, 1.919·10⁻³ for ply 2; the app's engineering γ12 matches it. Ply z in mm.</a:t>
            </a:r>
            <a:endParaRPr lang="en-US" sz="1300" dirty="0"/>
          </a:p>
        </p:txBody>
      </p:sp>
      <p:sp>
        <p:nvSpPr>
          <p:cNvPr id="39" name="Shape 36"/>
          <p:cNvSpPr/>
          <p:nvPr/>
        </p:nvSpPr>
        <p:spPr>
          <a:xfrm>
            <a:off x="640080" y="5532120"/>
            <a:ext cx="10908792" cy="566928"/>
          </a:xfrm>
          <a:prstGeom prst="rect">
            <a:avLst/>
          </a:prstGeom>
          <a:solidFill>
            <a:srgbClr val="16181B"/>
          </a:solidFill>
          <a:ln w="12700">
            <a:solidFill>
              <a:srgbClr val="16181B"/>
            </a:solidFill>
            <a:prstDash val="solid"/>
          </a:ln>
        </p:spPr>
        <p:txBody>
          <a:bodyPr/>
          <a:lstStyle/>
          <a:p>
            <a:endParaRPr lang="en-US"/>
          </a:p>
        </p:txBody>
      </p:sp>
      <p:sp>
        <p:nvSpPr>
          <p:cNvPr id="40" name="Text 37"/>
          <p:cNvSpPr txBox="1"/>
          <p:nvPr/>
        </p:nvSpPr>
        <p:spPr>
          <a:xfrm>
            <a:off x="859536" y="5532120"/>
            <a:ext cx="10469880" cy="566928"/>
          </a:xfrm>
          <a:prstGeom prst="rect">
            <a:avLst/>
          </a:prstGeom>
          <a:noFill/>
          <a:ln/>
        </p:spPr>
        <p:txBody>
          <a:bodyPr wrap="square" lIns="0" tIns="0" rIns="0" bIns="0" rtlCol="0" anchor="ctr"/>
          <a:lstStyle/>
          <a:p>
            <a:pPr marL="0" indent="0" algn="l">
              <a:lnSpc>
                <a:spcPct val="100000"/>
              </a:lnSpc>
              <a:buNone/>
            </a:pPr>
            <a:r>
              <a:rPr lang="en-US" sz="1500" b="1" dirty="0">
                <a:solidFill>
                  <a:srgbClr val="FF7A29"/>
                </a:solidFill>
                <a:latin typeface="Calibri" pitchFamily="34" charset="0"/>
                <a:ea typeface="Calibri" pitchFamily="34" charset="-122"/>
                <a:cs typeface="Calibri" pitchFamily="34" charset="-120"/>
              </a:rPr>
              <a:t>The book prints no strengths: this case checks stiffness, strain and stress, not any failure load.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06 · VALIDATION AGAINST KAW · NUMBERS</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Kaw §4.3, pp. 2–10 · all 126 values re-computed separately</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10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All 126 printed values agree with the app inside their own tolerances; the largest relative gap is 0.04 %</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A printed value is known only to about half of its last digit, so each is tested against its source-based allowance.</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6446520" cy="914400"/>
        </p:xfrm>
        <a:graphic>
          <a:graphicData uri="http://schemas.openxmlformats.org/drawingml/2006/table">
            <a:tbl>
              <a:tblPr/>
              <a:tblGrid>
                <a:gridCol w="26974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365760">
                <a:tc>
                  <a:txBody>
                    <a:bodyPr/>
                    <a:lstStyle/>
                    <a:p>
                      <a:pPr marL="0" indent="0" algn="l">
                        <a:buNone/>
                      </a:pPr>
                      <a:r>
                        <a:rPr lang="en-US" sz="1300" b="1" dirty="0">
                          <a:solidFill>
                            <a:srgbClr val="6B6F76"/>
                          </a:solidFill>
                          <a:latin typeface="Calibri" pitchFamily="34" charset="0"/>
                          <a:ea typeface="Calibri" pitchFamily="34" charset="-122"/>
                          <a:cs typeface="Calibri" pitchFamily="34" charset="-120"/>
                        </a:rPr>
                        <a:t>Quantity</a:t>
                      </a:r>
                      <a:endParaRPr lang="en-US" sz="13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5875" cap="flat" cmpd="sng" algn="ctr">
                      <a:solidFill>
                        <a:srgbClr val="16181B"/>
                      </a:solidFill>
                      <a:prstDash val="solid"/>
                      <a:round/>
                      <a:headEnd type="none" w="med" len="med"/>
                      <a:tailEnd type="none" w="med" len="med"/>
                    </a:lnB>
                  </a:tcPr>
                </a:tc>
                <a:tc>
                  <a:txBody>
                    <a:bodyPr/>
                    <a:lstStyle/>
                    <a:p>
                      <a:pPr marL="0" indent="0" algn="r">
                        <a:buNone/>
                      </a:pPr>
                      <a:r>
                        <a:rPr lang="en-US" sz="1300" b="1" dirty="0">
                          <a:solidFill>
                            <a:srgbClr val="6B6F76"/>
                          </a:solidFill>
                          <a:latin typeface="Calibri" pitchFamily="34" charset="0"/>
                          <a:ea typeface="Calibri" pitchFamily="34" charset="-122"/>
                          <a:cs typeface="Calibri" pitchFamily="34" charset="-120"/>
                        </a:rPr>
                        <a:t>Book</a:t>
                      </a:r>
                      <a:endParaRPr lang="en-US" sz="13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5875" cap="flat" cmpd="sng" algn="ctr">
                      <a:solidFill>
                        <a:srgbClr val="16181B"/>
                      </a:solidFill>
                      <a:prstDash val="solid"/>
                      <a:round/>
                      <a:headEnd type="none" w="med" len="med"/>
                      <a:tailEnd type="none" w="med" len="med"/>
                    </a:lnB>
                  </a:tcPr>
                </a:tc>
                <a:tc>
                  <a:txBody>
                    <a:bodyPr/>
                    <a:lstStyle/>
                    <a:p>
                      <a:pPr marL="0" indent="0" algn="r">
                        <a:buNone/>
                      </a:pPr>
                      <a:r>
                        <a:rPr lang="en-US" sz="1300" b="1" dirty="0">
                          <a:solidFill>
                            <a:srgbClr val="6B6F76"/>
                          </a:solidFill>
                          <a:latin typeface="Calibri" pitchFamily="34" charset="0"/>
                          <a:ea typeface="Calibri" pitchFamily="34" charset="-122"/>
                          <a:cs typeface="Calibri" pitchFamily="34" charset="-120"/>
                        </a:rPr>
                        <a:t>App</a:t>
                      </a:r>
                      <a:endParaRPr lang="en-US" sz="13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5875" cap="flat" cmpd="sng" algn="ctr">
                      <a:solidFill>
                        <a:srgbClr val="16181B"/>
                      </a:solidFill>
                      <a:prstDash val="solid"/>
                      <a:round/>
                      <a:headEnd type="none" w="med" len="med"/>
                      <a:tailEnd type="none" w="med" len="med"/>
                    </a:lnB>
                  </a:tcPr>
                </a:tc>
                <a:tc>
                  <a:txBody>
                    <a:bodyPr/>
                    <a:lstStyle/>
                    <a:p>
                      <a:pPr marL="0" indent="0" algn="r">
                        <a:buNone/>
                      </a:pPr>
                      <a:r>
                        <a:rPr lang="en-US" sz="1300" b="1" dirty="0">
                          <a:solidFill>
                            <a:srgbClr val="6B6F76"/>
                          </a:solidFill>
                          <a:latin typeface="Calibri" pitchFamily="34" charset="0"/>
                          <a:ea typeface="Calibri" pitchFamily="34" charset="-122"/>
                          <a:cs typeface="Calibri" pitchFamily="34" charset="-120"/>
                        </a:rPr>
                        <a:t>Gap</a:t>
                      </a:r>
                      <a:endParaRPr lang="en-US" sz="13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5875" cap="flat" cmpd="sng" algn="ctr">
                      <a:solidFill>
                        <a:srgbClr val="16181B"/>
                      </a:solidFill>
                      <a:prstDash val="solid"/>
                      <a:round/>
                      <a:headEnd type="none" w="med" len="med"/>
                      <a:tailEnd type="none" w="med" len="med"/>
                    </a:lnB>
                  </a:tcPr>
                </a:tc>
                <a:tc>
                  <a:txBody>
                    <a:bodyPr/>
                    <a:lstStyle/>
                    <a:p>
                      <a:pPr marL="0" indent="0" algn="r">
                        <a:buNone/>
                      </a:pPr>
                      <a:r>
                        <a:rPr lang="en-US" sz="1300" b="1" dirty="0">
                          <a:solidFill>
                            <a:srgbClr val="6B6F76"/>
                          </a:solidFill>
                          <a:latin typeface="Calibri" pitchFamily="34" charset="0"/>
                          <a:ea typeface="Calibri" pitchFamily="34" charset="-122"/>
                          <a:cs typeface="Calibri" pitchFamily="34" charset="-120"/>
                        </a:rPr>
                        <a:t>Allowed ±</a:t>
                      </a:r>
                      <a:endParaRPr lang="en-US" sz="1300" dirty="0">
                        <a:latin typeface="Calibri" charset="0"/>
                        <a:ea typeface="Calibri" charset="0"/>
                        <a:cs typeface="Calibri" charset="0"/>
                      </a:endParaRPr>
                    </a:p>
                  </a:txBody>
                  <a:tcPr marL="0" marR="73152" marT="0" marB="0" anchor="ctr">
                    <a:lnL w="0" cap="flat" cmpd="sng" algn="ctr">
                      <a:noFill/>
                    </a:lnL>
                    <a:lnR w="0" cap="flat" cmpd="sng" algn="ctr">
                      <a:noFill/>
                    </a:lnR>
                    <a:lnT w="0" cap="flat" cmpd="sng" algn="ctr">
                      <a:noFill/>
                    </a:lnT>
                    <a:lnB w="15875" cap="flat" cmpd="sng" algn="ctr">
                      <a:solidFill>
                        <a:srgbClr val="16181B"/>
                      </a:solidFill>
                      <a:prstDash val="solid"/>
                      <a:round/>
                      <a:headEnd type="none" w="med" len="med"/>
                      <a:tailEnd type="none" w="med" len="med"/>
                    </a:lnB>
                  </a:tcPr>
                </a:tc>
                <a:extLst>
                  <a:ext uri="{0D108BD9-81ED-4DB2-BD59-A6C34878D82A}">
                    <a16:rowId xmlns:a16="http://schemas.microsoft.com/office/drawing/2014/main" val="10000"/>
                  </a:ext>
                </a:extLst>
              </a:tr>
              <a:tr h="502920">
                <a:tc>
                  <a:txBody>
                    <a:bodyPr/>
                    <a:lstStyle/>
                    <a:p>
                      <a:pPr marL="0" indent="0" algn="l">
                        <a:buNone/>
                      </a:pPr>
                      <a:r>
                        <a:rPr lang="en-US" sz="1450" dirty="0">
                          <a:solidFill>
                            <a:srgbClr val="16181B"/>
                          </a:solidFill>
                          <a:latin typeface="Calibri" pitchFamily="34" charset="0"/>
                          <a:ea typeface="Calibri" pitchFamily="34" charset="-122"/>
                          <a:cs typeface="Calibri" pitchFamily="34" charset="-120"/>
                        </a:rPr>
                        <a:t>A11, stretch stiffness (MN/m)</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15875" cap="flat" cmpd="sng" algn="ctr">
                      <a:solidFill>
                        <a:srgbClr val="16181B"/>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273.5</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15875" cap="flat" cmpd="sng" algn="ctr">
                      <a:solidFill>
                        <a:srgbClr val="16181B"/>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273.46</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15875" cap="flat" cmpd="sng" algn="ctr">
                      <a:solidFill>
                        <a:srgbClr val="16181B"/>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b="1" dirty="0">
                          <a:solidFill>
                            <a:srgbClr val="16181B"/>
                          </a:solidFill>
                          <a:latin typeface="Calibri" pitchFamily="34" charset="0"/>
                          <a:ea typeface="Calibri" pitchFamily="34" charset="-122"/>
                          <a:cs typeface="Calibri" pitchFamily="34" charset="-120"/>
                        </a:rPr>
                        <a:t>0.044</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15875" cap="flat" cmpd="sng" algn="ctr">
                      <a:solidFill>
                        <a:srgbClr val="16181B"/>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0.05</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15875" cap="flat" cmpd="sng" algn="ctr">
                      <a:solidFill>
                        <a:srgbClr val="16181B"/>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lgn="l">
                        <a:buNone/>
                      </a:pPr>
                      <a:r>
                        <a:rPr lang="en-US" sz="1450" dirty="0">
                          <a:solidFill>
                            <a:srgbClr val="16181B"/>
                          </a:solidFill>
                          <a:latin typeface="Calibri" pitchFamily="34" charset="0"/>
                          <a:ea typeface="Calibri" pitchFamily="34" charset="-122"/>
                          <a:cs typeface="Calibri" pitchFamily="34" charset="-120"/>
                        </a:rPr>
                        <a:t>B11, coupling (kN)</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−384.7</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−384.70</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b="1" dirty="0">
                          <a:solidFill>
                            <a:srgbClr val="16181B"/>
                          </a:solidFill>
                          <a:latin typeface="Calibri" pitchFamily="34" charset="0"/>
                          <a:ea typeface="Calibri" pitchFamily="34" charset="-122"/>
                          <a:cs typeface="Calibri" pitchFamily="34" charset="-120"/>
                        </a:rPr>
                        <a:t>0.0034</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0.05</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lgn="l">
                        <a:buNone/>
                      </a:pPr>
                      <a:r>
                        <a:rPr lang="en-US" sz="1450" dirty="0">
                          <a:solidFill>
                            <a:srgbClr val="16181B"/>
                          </a:solidFill>
                          <a:latin typeface="Calibri" pitchFamily="34" charset="0"/>
                          <a:ea typeface="Calibri" pitchFamily="34" charset="-122"/>
                          <a:cs typeface="Calibri" pitchFamily="34" charset="-120"/>
                        </a:rPr>
                        <a:t>D11, bend stiffness (kN·m)</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5.266</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5.2660</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b="1" dirty="0">
                          <a:solidFill>
                            <a:srgbClr val="16181B"/>
                          </a:solidFill>
                          <a:latin typeface="Calibri" pitchFamily="34" charset="0"/>
                          <a:ea typeface="Calibri" pitchFamily="34" charset="-122"/>
                          <a:cs typeface="Calibri" pitchFamily="34" charset="-120"/>
                        </a:rPr>
                        <a:t>0.000025</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0.0005</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lgn="l">
                        <a:buNone/>
                      </a:pPr>
                      <a:r>
                        <a:rPr lang="en-US" sz="1450" dirty="0">
                          <a:solidFill>
                            <a:srgbClr val="16181B"/>
                          </a:solidFill>
                          <a:latin typeface="Calibri" pitchFamily="34" charset="0"/>
                          <a:ea typeface="Calibri" pitchFamily="34" charset="-122"/>
                          <a:cs typeface="Calibri" pitchFamily="34" charset="-120"/>
                        </a:rPr>
                        <a:t>εx, mid-plane strain (µε)</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162.4</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162.36</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b="1" dirty="0">
                          <a:solidFill>
                            <a:srgbClr val="16181B"/>
                          </a:solidFill>
                          <a:latin typeface="Calibri" pitchFamily="34" charset="0"/>
                          <a:ea typeface="Calibri" pitchFamily="34" charset="-122"/>
                          <a:cs typeface="Calibri" pitchFamily="34" charset="-120"/>
                        </a:rPr>
                        <a:t>0.040</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dirty="0">
                          <a:solidFill>
                            <a:srgbClr val="16181B"/>
                          </a:solidFill>
                          <a:latin typeface="Calibri" pitchFamily="34" charset="0"/>
                          <a:ea typeface="Calibri" pitchFamily="34" charset="-122"/>
                          <a:cs typeface="Calibri" pitchFamily="34" charset="-120"/>
                        </a:rPr>
                        <a:t>0.05</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lgn="l">
                        <a:buNone/>
                      </a:pPr>
                      <a:r>
                        <a:rPr lang="en-US" sz="1450" b="1" dirty="0">
                          <a:solidFill>
                            <a:srgbClr val="FF7A29"/>
                          </a:solidFill>
                          <a:latin typeface="Calibri" pitchFamily="34" charset="0"/>
                          <a:ea typeface="Calibri" pitchFamily="34" charset="-122"/>
                          <a:cs typeface="Calibri" pitchFamily="34" charset="-120"/>
                        </a:rPr>
                        <a:t>Largest relative gap: ply 1 τ12 (MPa)</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b="1" dirty="0">
                          <a:solidFill>
                            <a:srgbClr val="FF7A29"/>
                          </a:solidFill>
                          <a:latin typeface="Calibri" pitchFamily="34" charset="0"/>
                          <a:ea typeface="Calibri" pitchFamily="34" charset="-122"/>
                          <a:cs typeface="Calibri" pitchFamily="34" charset="-120"/>
                        </a:rPr>
                        <a:t>−12.49</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b="1" dirty="0">
                          <a:solidFill>
                            <a:srgbClr val="FF7A29"/>
                          </a:solidFill>
                          <a:latin typeface="Calibri" pitchFamily="34" charset="0"/>
                          <a:ea typeface="Calibri" pitchFamily="34" charset="-122"/>
                          <a:cs typeface="Calibri" pitchFamily="34" charset="-120"/>
                        </a:rPr>
                        <a:t>−12.485</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b="1" dirty="0">
                          <a:solidFill>
                            <a:srgbClr val="FF7A29"/>
                          </a:solidFill>
                          <a:latin typeface="Calibri" pitchFamily="34" charset="0"/>
                          <a:ea typeface="Calibri" pitchFamily="34" charset="-122"/>
                          <a:cs typeface="Calibri" pitchFamily="34" charset="-120"/>
                        </a:rPr>
                        <a:t>0.0049</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tc>
                  <a:txBody>
                    <a:bodyPr/>
                    <a:lstStyle/>
                    <a:p>
                      <a:pPr marL="0" indent="0" algn="r">
                        <a:buNone/>
                      </a:pPr>
                      <a:r>
                        <a:rPr lang="en-US" sz="1450" b="1" dirty="0">
                          <a:solidFill>
                            <a:srgbClr val="FF7A29"/>
                          </a:solidFill>
                          <a:latin typeface="Calibri" pitchFamily="34" charset="0"/>
                          <a:ea typeface="Calibri" pitchFamily="34" charset="-122"/>
                          <a:cs typeface="Calibri" pitchFamily="34" charset="-120"/>
                        </a:rPr>
                        <a:t>0.005</a:t>
                      </a:r>
                      <a:endParaRPr lang="en-US" sz="1450" dirty="0">
                        <a:latin typeface="Calibri" charset="0"/>
                        <a:ea typeface="Calibri" charset="0"/>
                        <a:cs typeface="Calibri" charset="0"/>
                      </a:endParaRPr>
                    </a:p>
                  </a:txBody>
                  <a:tcPr marL="0" marR="73152" marT="0" marB="0" anchor="ctr">
                    <a:lnL w="0" cap="flat" cmpd="sng" algn="ctr">
                      <a:noFill/>
                    </a:lnL>
                    <a:lnR w="0" cap="flat" cmpd="sng" algn="ctr">
                      <a:noFill/>
                    </a:lnR>
                    <a:lnT w="9525" cap="flat" cmpd="sng" algn="ctr">
                      <a:solidFill>
                        <a:srgbClr val="D8D6D2"/>
                      </a:solidFill>
                      <a:prstDash val="solid"/>
                      <a:round/>
                      <a:headEnd type="none" w="med" len="med"/>
                      <a:tailEnd type="none" w="med" len="med"/>
                    </a:lnT>
                    <a:lnB w="9525" cap="flat" cmpd="sng" algn="ctr">
                      <a:solidFill>
                        <a:srgbClr val="D8D6D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Text 7"/>
          <p:cNvSpPr txBox="1"/>
          <p:nvPr/>
        </p:nvSpPr>
        <p:spPr>
          <a:xfrm>
            <a:off x="640080" y="5440680"/>
            <a:ext cx="6446520" cy="640080"/>
          </a:xfrm>
          <a:prstGeom prst="rect">
            <a:avLst/>
          </a:prstGeom>
          <a:noFill/>
          <a:ln/>
        </p:spPr>
        <p:txBody>
          <a:bodyPr wrap="square" lIns="0" tIns="0" rIns="0" bIns="0" rtlCol="0" anchor="t"/>
          <a:lstStyle/>
          <a:p>
            <a:pPr marL="0" indent="0" algn="l">
              <a:lnSpc>
                <a:spcPct val="100000"/>
              </a:lnSpc>
              <a:buNone/>
            </a:pPr>
            <a:r>
              <a:rPr lang="en-US" sz="1300" dirty="0">
                <a:solidFill>
                  <a:srgbClr val="6B6F76"/>
                </a:solidFill>
                <a:latin typeface="Calibri" pitchFamily="34" charset="0"/>
                <a:ea typeface="Calibri" pitchFamily="34" charset="-122"/>
                <a:cs typeface="Calibri" pitchFamily="34" charset="-120"/>
              </a:rPr>
              <a:t>Five of the 126 values. Gap = |app − book| from the full app values, in the unit of the row; Allowed = half of the book's last printed digit (ply forces: ±2.5 N/m, see below). The last row, the largest relative gap, uses 99 % of its allowance.</a:t>
            </a:r>
            <a:endParaRPr lang="en-US" sz="1300" dirty="0"/>
          </a:p>
        </p:txBody>
      </p:sp>
      <p:sp>
        <p:nvSpPr>
          <p:cNvPr id="12" name="Text 8"/>
          <p:cNvSpPr txBox="1"/>
          <p:nvPr/>
        </p:nvSpPr>
        <p:spPr>
          <a:xfrm>
            <a:off x="7406640" y="2377440"/>
            <a:ext cx="4142232"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116</a:t>
            </a:r>
            <a:endParaRPr lang="en-US" sz="2700" dirty="0"/>
          </a:p>
        </p:txBody>
      </p:sp>
      <p:sp>
        <p:nvSpPr>
          <p:cNvPr id="13" name="Text 9"/>
          <p:cNvSpPr txBox="1"/>
          <p:nvPr/>
        </p:nvSpPr>
        <p:spPr>
          <a:xfrm>
            <a:off x="7406640" y="2834640"/>
            <a:ext cx="4142232" cy="777240"/>
          </a:xfrm>
          <a:prstGeom prst="rect">
            <a:avLst/>
          </a:prstGeom>
          <a:noFill/>
          <a:ln/>
        </p:spPr>
        <p:txBody>
          <a:bodyPr wrap="square" lIns="0" tIns="0" rIns="0" bIns="0" rtlCol="0" anchor="t"/>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non-zero printed values, each within half a unit of its last printed digit</a:t>
            </a:r>
            <a:endParaRPr lang="en-US" sz="1400" dirty="0"/>
          </a:p>
        </p:txBody>
      </p:sp>
      <p:sp>
        <p:nvSpPr>
          <p:cNvPr id="14" name="Shape 10"/>
          <p:cNvSpPr/>
          <p:nvPr/>
        </p:nvSpPr>
        <p:spPr>
          <a:xfrm>
            <a:off x="7406640" y="3566160"/>
            <a:ext cx="4142232" cy="10973"/>
          </a:xfrm>
          <a:prstGeom prst="rect">
            <a:avLst/>
          </a:prstGeom>
          <a:solidFill>
            <a:srgbClr val="D8D6D2"/>
          </a:solidFill>
          <a:ln w="12700">
            <a:solidFill>
              <a:srgbClr val="D8D6D2"/>
            </a:solidFill>
            <a:prstDash val="solid"/>
          </a:ln>
        </p:spPr>
        <p:txBody>
          <a:bodyPr/>
          <a:lstStyle/>
          <a:p>
            <a:endParaRPr lang="en-US"/>
          </a:p>
        </p:txBody>
      </p:sp>
      <p:sp>
        <p:nvSpPr>
          <p:cNvPr id="15" name="Text 11"/>
          <p:cNvSpPr txBox="1"/>
          <p:nvPr/>
        </p:nvSpPr>
        <p:spPr>
          <a:xfrm>
            <a:off x="7406640" y="3639312"/>
            <a:ext cx="4142232"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7</a:t>
            </a:r>
            <a:endParaRPr lang="en-US" sz="2700" dirty="0"/>
          </a:p>
        </p:txBody>
      </p:sp>
      <p:sp>
        <p:nvSpPr>
          <p:cNvPr id="16" name="Text 12"/>
          <p:cNvSpPr txBox="1"/>
          <p:nvPr/>
        </p:nvSpPr>
        <p:spPr>
          <a:xfrm>
            <a:off x="7406640" y="4096512"/>
            <a:ext cx="4142232" cy="777240"/>
          </a:xfrm>
          <a:prstGeom prst="rect">
            <a:avLst/>
          </a:prstGeom>
          <a:noFill/>
          <a:ln/>
        </p:spPr>
        <p:txBody>
          <a:bodyPr wrap="square" lIns="0" tIns="0" rIns="0" bIns="0" rtlCol="0" anchor="t"/>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printed zeros, compared by absolute error</a:t>
            </a:r>
            <a:endParaRPr lang="en-US" sz="1400" dirty="0"/>
          </a:p>
        </p:txBody>
      </p:sp>
      <p:sp>
        <p:nvSpPr>
          <p:cNvPr id="17" name="Shape 13"/>
          <p:cNvSpPr/>
          <p:nvPr/>
        </p:nvSpPr>
        <p:spPr>
          <a:xfrm>
            <a:off x="7406640" y="4828032"/>
            <a:ext cx="4142232" cy="10973"/>
          </a:xfrm>
          <a:prstGeom prst="rect">
            <a:avLst/>
          </a:prstGeom>
          <a:solidFill>
            <a:srgbClr val="D8D6D2"/>
          </a:solidFill>
          <a:ln w="12700">
            <a:solidFill>
              <a:srgbClr val="D8D6D2"/>
            </a:solidFill>
            <a:prstDash val="solid"/>
          </a:ln>
        </p:spPr>
        <p:txBody>
          <a:bodyPr/>
          <a:lstStyle/>
          <a:p>
            <a:endParaRPr lang="en-US"/>
          </a:p>
        </p:txBody>
      </p:sp>
      <p:sp>
        <p:nvSpPr>
          <p:cNvPr id="18" name="Text 14"/>
          <p:cNvSpPr txBox="1"/>
          <p:nvPr/>
        </p:nvSpPr>
        <p:spPr>
          <a:xfrm>
            <a:off x="7406640" y="4901184"/>
            <a:ext cx="4142232" cy="457200"/>
          </a:xfrm>
          <a:prstGeom prst="rect">
            <a:avLst/>
          </a:prstGeom>
          <a:noFill/>
          <a:ln/>
        </p:spPr>
        <p:txBody>
          <a:bodyPr wrap="square" lIns="0" tIns="0" rIns="0" bIns="0" rtlCol="0" anchor="t"/>
          <a:lstStyle/>
          <a:p>
            <a:pPr marL="0" indent="0" algn="l">
              <a:lnSpc>
                <a:spcPct val="100000"/>
              </a:lnSpc>
              <a:buNone/>
            </a:pPr>
            <a:r>
              <a:rPr lang="en-US" sz="2700" b="1" dirty="0">
                <a:solidFill>
                  <a:srgbClr val="FF7A29"/>
                </a:solidFill>
                <a:latin typeface="Calibri" pitchFamily="34" charset="0"/>
                <a:ea typeface="Calibri" pitchFamily="34" charset="-122"/>
                <a:cs typeface="Calibri" pitchFamily="34" charset="-120"/>
              </a:rPr>
              <a:t>3</a:t>
            </a:r>
            <a:endParaRPr lang="en-US" sz="2700" dirty="0"/>
          </a:p>
        </p:txBody>
      </p:sp>
      <p:sp>
        <p:nvSpPr>
          <p:cNvPr id="19" name="Text 15"/>
          <p:cNvSpPr txBox="1"/>
          <p:nvPr/>
        </p:nvSpPr>
        <p:spPr>
          <a:xfrm>
            <a:off x="7406640" y="5358384"/>
            <a:ext cx="4142232" cy="777240"/>
          </a:xfrm>
          <a:prstGeom prst="rect">
            <a:avLst/>
          </a:prstGeom>
          <a:noFill/>
          <a:ln/>
        </p:spPr>
        <p:txBody>
          <a:bodyPr wrap="square" lIns="0" tIns="0" rIns="0" bIns="0" rtlCol="0" anchor="t"/>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ply forces (12 920, −20 595, 9 175 N/m), within the propagated tolerance ±2.5 N/m; they sum to the applied 1500 N/m, so equilibrium holds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06 · VALIDATION AGAINST KAW · STIFFNESS OF ONE PLY</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Kaw, worked example §4.3, pp. 2–3 · app screen "Inspect one ply angle"</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11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The Q-bar screen shows the same 3×3 matrix as the book at 30°, and at −45° and −60°</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Q-bar is one ply's stiffness rotated to the laminate axes, in GPa; the app shows 2 decimal places.</a:t>
            </a:r>
            <a:endParaRPr lang="en-US" sz="1800" dirty="0"/>
          </a:p>
        </p:txBody>
      </p:sp>
      <p:sp>
        <p:nvSpPr>
          <p:cNvPr id="10" name="Text 7"/>
          <p:cNvSpPr txBox="1"/>
          <p:nvPr/>
        </p:nvSpPr>
        <p:spPr>
          <a:xfrm>
            <a:off x="640080" y="2331720"/>
            <a:ext cx="5303520" cy="237744"/>
          </a:xfrm>
          <a:prstGeom prst="rect">
            <a:avLst/>
          </a:prstGeom>
          <a:noFill/>
          <a:ln/>
        </p:spPr>
        <p:txBody>
          <a:bodyPr wrap="square" lIns="0" tIns="0" rIns="0" bIns="0" rtlCol="0" anchor="t"/>
          <a:lstStyle/>
          <a:p>
            <a:pPr marL="0" indent="0" algn="l">
              <a:lnSpc>
                <a:spcPct val="100000"/>
              </a:lnSpc>
              <a:buNone/>
            </a:pPr>
            <a:r>
              <a:rPr lang="en-US" sz="1400" b="1" dirty="0">
                <a:solidFill>
                  <a:srgbClr val="6B6F76"/>
                </a:solidFill>
                <a:latin typeface="Calibri" pitchFamily="34" charset="0"/>
                <a:ea typeface="Calibri" pitchFamily="34" charset="-122"/>
                <a:cs typeface="Calibri" pitchFamily="34" charset="-120"/>
              </a:rPr>
              <a:t>Ply angle 30°: Kaw, printed</a:t>
            </a:r>
            <a:endParaRPr lang="en-US" sz="1400" dirty="0"/>
          </a:p>
        </p:txBody>
      </p:sp>
      <p:pic>
        <p:nvPicPr>
          <p:cNvPr id="11" name="Image 0" descr="Kaw printed Q-bar matrix at 30 degrees"/>
          <p:cNvPicPr>
            <a:picLocks noChangeAspect="1"/>
          </p:cNvPicPr>
          <p:nvPr/>
        </p:nvPicPr>
        <p:blipFill>
          <a:blip r:embed="rId5"/>
          <a:stretch>
            <a:fillRect/>
          </a:stretch>
        </p:blipFill>
        <p:spPr>
          <a:xfrm>
            <a:off x="640080" y="2651760"/>
            <a:ext cx="5303520" cy="1175522"/>
          </a:xfrm>
          <a:prstGeom prst="rect">
            <a:avLst/>
          </a:prstGeom>
        </p:spPr>
      </p:pic>
      <p:sp>
        <p:nvSpPr>
          <p:cNvPr id="12" name="Text 8"/>
          <p:cNvSpPr txBox="1"/>
          <p:nvPr/>
        </p:nvSpPr>
        <p:spPr>
          <a:xfrm>
            <a:off x="6245352" y="2331720"/>
            <a:ext cx="5303520" cy="237744"/>
          </a:xfrm>
          <a:prstGeom prst="rect">
            <a:avLst/>
          </a:prstGeom>
          <a:noFill/>
          <a:ln/>
        </p:spPr>
        <p:txBody>
          <a:bodyPr wrap="square" lIns="0" tIns="0" rIns="0" bIns="0" rtlCol="0" anchor="t"/>
          <a:lstStyle/>
          <a:p>
            <a:pPr marL="0" indent="0" algn="l">
              <a:lnSpc>
                <a:spcPct val="100000"/>
              </a:lnSpc>
              <a:buNone/>
            </a:pPr>
            <a:r>
              <a:rPr lang="en-US" sz="1400" b="1" dirty="0">
                <a:solidFill>
                  <a:srgbClr val="FF7A29"/>
                </a:solidFill>
                <a:latin typeface="Calibri" pitchFamily="34" charset="0"/>
                <a:ea typeface="Calibri" pitchFamily="34" charset="-122"/>
                <a:cs typeface="Calibri" pitchFamily="34" charset="-120"/>
              </a:rPr>
              <a:t>Ply angle 30°: app, screenshot</a:t>
            </a:r>
            <a:endParaRPr lang="en-US" sz="1400" dirty="0"/>
          </a:p>
        </p:txBody>
      </p:sp>
      <p:pic>
        <p:nvPicPr>
          <p:cNvPr id="13" name="Image 1" descr="App Q-bar screen at 30 degrees"/>
          <p:cNvPicPr>
            <a:picLocks noChangeAspect="1"/>
          </p:cNvPicPr>
          <p:nvPr/>
        </p:nvPicPr>
        <p:blipFill>
          <a:blip r:embed="rId6"/>
          <a:stretch>
            <a:fillRect/>
          </a:stretch>
        </p:blipFill>
        <p:spPr>
          <a:xfrm>
            <a:off x="6245352" y="2651760"/>
            <a:ext cx="5303520" cy="1644671"/>
          </a:xfrm>
          <a:prstGeom prst="rect">
            <a:avLst/>
          </a:prstGeom>
        </p:spPr>
      </p:pic>
      <p:sp>
        <p:nvSpPr>
          <p:cNvPr id="14" name="Text 9"/>
          <p:cNvSpPr txBox="1"/>
          <p:nvPr/>
        </p:nvSpPr>
        <p:spPr>
          <a:xfrm>
            <a:off x="640080" y="4663440"/>
            <a:ext cx="731520" cy="457200"/>
          </a:xfrm>
          <a:prstGeom prst="rect">
            <a:avLst/>
          </a:prstGeom>
          <a:noFill/>
          <a:ln/>
        </p:spPr>
        <p:txBody>
          <a:bodyPr wrap="square" lIns="0" tIns="0" rIns="0" bIns="0" rtlCol="0" anchor="ctr"/>
          <a:lstStyle/>
          <a:p>
            <a:pPr marL="0" indent="0" algn="l">
              <a:lnSpc>
                <a:spcPct val="100000"/>
              </a:lnSpc>
              <a:buNone/>
            </a:pPr>
            <a:r>
              <a:rPr lang="en-US" sz="2200" b="1" dirty="0">
                <a:solidFill>
                  <a:srgbClr val="FF7A29"/>
                </a:solidFill>
                <a:latin typeface="Calibri" pitchFamily="34" charset="0"/>
                <a:ea typeface="Calibri" pitchFamily="34" charset="-122"/>
                <a:cs typeface="Calibri" pitchFamily="34" charset="-120"/>
              </a:rPr>
              <a:t>−45°</a:t>
            </a:r>
            <a:endParaRPr lang="en-US" sz="2200" dirty="0"/>
          </a:p>
        </p:txBody>
      </p:sp>
      <p:sp>
        <p:nvSpPr>
          <p:cNvPr id="15" name="Text 10"/>
          <p:cNvSpPr txBox="1"/>
          <p:nvPr/>
        </p:nvSpPr>
        <p:spPr>
          <a:xfrm>
            <a:off x="1463040" y="4663440"/>
            <a:ext cx="4389120" cy="502920"/>
          </a:xfrm>
          <a:prstGeom prst="rect">
            <a:avLst/>
          </a:prstGeom>
          <a:noFill/>
          <a:ln/>
        </p:spPr>
        <p:txBody>
          <a:bodyPr wrap="square" lIns="0" tIns="0" rIns="0" bIns="0" rtlCol="0" anchor="ctr"/>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9 of 9 entries equal at 2 decimal places</a:t>
            </a:r>
            <a:endParaRPr lang="en-US" sz="1400" dirty="0"/>
          </a:p>
        </p:txBody>
      </p:sp>
      <p:sp>
        <p:nvSpPr>
          <p:cNvPr id="16" name="Text 11"/>
          <p:cNvSpPr txBox="1"/>
          <p:nvPr/>
        </p:nvSpPr>
        <p:spPr>
          <a:xfrm>
            <a:off x="6245352" y="4663440"/>
            <a:ext cx="731520" cy="457200"/>
          </a:xfrm>
          <a:prstGeom prst="rect">
            <a:avLst/>
          </a:prstGeom>
          <a:noFill/>
          <a:ln/>
        </p:spPr>
        <p:txBody>
          <a:bodyPr wrap="square" lIns="0" tIns="0" rIns="0" bIns="0" rtlCol="0" anchor="ctr"/>
          <a:lstStyle/>
          <a:p>
            <a:pPr marL="0" indent="0" algn="l">
              <a:lnSpc>
                <a:spcPct val="100000"/>
              </a:lnSpc>
              <a:buNone/>
            </a:pPr>
            <a:r>
              <a:rPr lang="en-US" sz="2200" b="1" dirty="0">
                <a:solidFill>
                  <a:srgbClr val="FF7A29"/>
                </a:solidFill>
                <a:latin typeface="Calibri" pitchFamily="34" charset="0"/>
                <a:ea typeface="Calibri" pitchFamily="34" charset="-122"/>
                <a:cs typeface="Calibri" pitchFamily="34" charset="-120"/>
              </a:rPr>
              <a:t>−60°</a:t>
            </a:r>
            <a:endParaRPr lang="en-US" sz="2200" dirty="0"/>
          </a:p>
        </p:txBody>
      </p:sp>
      <p:sp>
        <p:nvSpPr>
          <p:cNvPr id="17" name="Text 12"/>
          <p:cNvSpPr txBox="1"/>
          <p:nvPr/>
        </p:nvSpPr>
        <p:spPr>
          <a:xfrm>
            <a:off x="7068312" y="4663440"/>
            <a:ext cx="4389120" cy="502920"/>
          </a:xfrm>
          <a:prstGeom prst="rect">
            <a:avLst/>
          </a:prstGeom>
          <a:noFill/>
          <a:ln/>
        </p:spPr>
        <p:txBody>
          <a:bodyPr wrap="square" lIns="0" tIns="0" rIns="0" bIns="0" rtlCol="0" anchor="ctr"/>
          <a:lstStyle/>
          <a:p>
            <a:pPr marL="0" indent="0" algn="l">
              <a:lnSpc>
                <a:spcPct val="100000"/>
              </a:lnSpc>
              <a:buNone/>
            </a:pPr>
            <a:r>
              <a:rPr lang="en-US" sz="1400" dirty="0">
                <a:solidFill>
                  <a:srgbClr val="16181B"/>
                </a:solidFill>
                <a:latin typeface="Calibri" pitchFamily="34" charset="0"/>
                <a:ea typeface="Calibri" pitchFamily="34" charset="-122"/>
                <a:cs typeface="Calibri" pitchFamily="34" charset="-120"/>
              </a:rPr>
              <a:t>9 of 9 equal; Q11 and Q22 swap places against 30°, as the rotation requires</a:t>
            </a:r>
            <a:endParaRPr lang="en-US" sz="1400" dirty="0"/>
          </a:p>
        </p:txBody>
      </p:sp>
      <p:sp>
        <p:nvSpPr>
          <p:cNvPr id="18" name="Shape 13"/>
          <p:cNvSpPr/>
          <p:nvPr/>
        </p:nvSpPr>
        <p:spPr>
          <a:xfrm>
            <a:off x="640080" y="5596128"/>
            <a:ext cx="10908792" cy="530352"/>
          </a:xfrm>
          <a:prstGeom prst="rect">
            <a:avLst/>
          </a:prstGeom>
          <a:solidFill>
            <a:srgbClr val="16181B"/>
          </a:solidFill>
          <a:ln w="12700">
            <a:solidFill>
              <a:srgbClr val="16181B"/>
            </a:solidFill>
            <a:prstDash val="solid"/>
          </a:ln>
        </p:spPr>
        <p:txBody>
          <a:bodyPr/>
          <a:lstStyle/>
          <a:p>
            <a:endParaRPr lang="en-US"/>
          </a:p>
        </p:txBody>
      </p:sp>
      <p:sp>
        <p:nvSpPr>
          <p:cNvPr id="19" name="Text 14"/>
          <p:cNvSpPr txBox="1"/>
          <p:nvPr/>
        </p:nvSpPr>
        <p:spPr>
          <a:xfrm>
            <a:off x="859536" y="5596128"/>
            <a:ext cx="10469880" cy="530352"/>
          </a:xfrm>
          <a:prstGeom prst="rect">
            <a:avLst/>
          </a:prstGeom>
          <a:noFill/>
          <a:ln/>
        </p:spPr>
        <p:txBody>
          <a:bodyPr wrap="square" lIns="0" tIns="0" rIns="0" bIns="0" rtlCol="0" anchor="ctr"/>
          <a:lstStyle/>
          <a:p>
            <a:pPr marL="0" indent="0" algn="l">
              <a:lnSpc>
                <a:spcPct val="100000"/>
              </a:lnSpc>
              <a:buNone/>
            </a:pPr>
            <a:r>
              <a:rPr lang="en-US" sz="1500" b="1" dirty="0">
                <a:solidFill>
                  <a:srgbClr val="FF7A29"/>
                </a:solidFill>
                <a:latin typeface="Calibri" pitchFamily="34" charset="0"/>
                <a:ea typeface="Calibri" pitchFamily="34" charset="-122"/>
                <a:cs typeface="Calibri" pitchFamily="34" charset="-120"/>
              </a:rPr>
              <a:t>All 27 Q-bar entries agree to the printed digits; the largest relative gap at full precision is 0.0123 %.</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06 · VALIDATION AGAINST KAW · LAMINATE STIFFNESS AND MID-PLANE RESPONSE</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Kaw §4.3, pp. 4–5 · app panel "Full ABD and ply-interface positions"</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12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The 6×6 ABD matrix and the mid-plane response match the book; the strain and stress tables that follow start from these values</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ABD links loads N, M to mid-plane strain and curvature; the app screen shows the book's four digits.</a:t>
            </a:r>
            <a:endParaRPr lang="en-US" sz="1800" dirty="0"/>
          </a:p>
        </p:txBody>
      </p:sp>
      <p:sp>
        <p:nvSpPr>
          <p:cNvPr id="10" name="Text 7"/>
          <p:cNvSpPr txBox="1"/>
          <p:nvPr/>
        </p:nvSpPr>
        <p:spPr>
          <a:xfrm>
            <a:off x="640080" y="2304288"/>
            <a:ext cx="6400800" cy="237744"/>
          </a:xfrm>
          <a:prstGeom prst="rect">
            <a:avLst/>
          </a:prstGeom>
          <a:noFill/>
          <a:ln/>
        </p:spPr>
        <p:txBody>
          <a:bodyPr wrap="square" lIns="0" tIns="0" rIns="0" bIns="0" rtlCol="0" anchor="t"/>
          <a:lstStyle/>
          <a:p>
            <a:pPr marL="0" indent="0" algn="l">
              <a:lnSpc>
                <a:spcPct val="100000"/>
              </a:lnSpc>
              <a:buNone/>
            </a:pPr>
            <a:r>
              <a:rPr lang="en-US" sz="1450" b="1" dirty="0">
                <a:solidFill>
                  <a:srgbClr val="16181B"/>
                </a:solidFill>
                <a:latin typeface="Calibri" pitchFamily="34" charset="0"/>
                <a:ea typeface="Calibri" pitchFamily="34" charset="-122"/>
                <a:cs typeface="Calibri" pitchFamily="34" charset="-120"/>
              </a:rPr>
              <a:t>A, B, D matrix: stretch, coupling and bend stiffness</a:t>
            </a:r>
            <a:endParaRPr lang="en-US" sz="1450" dirty="0"/>
          </a:p>
        </p:txBody>
      </p:sp>
      <p:sp>
        <p:nvSpPr>
          <p:cNvPr id="11" name="Text 8"/>
          <p:cNvSpPr txBox="1"/>
          <p:nvPr/>
        </p:nvSpPr>
        <p:spPr>
          <a:xfrm>
            <a:off x="640080" y="2560320"/>
            <a:ext cx="2743200" cy="201168"/>
          </a:xfrm>
          <a:prstGeom prst="rect">
            <a:avLst/>
          </a:prstGeom>
          <a:noFill/>
          <a:ln/>
        </p:spPr>
        <p:txBody>
          <a:bodyPr wrap="square" lIns="0" tIns="0" rIns="0" bIns="0" rtlCol="0" anchor="t"/>
          <a:lstStyle/>
          <a:p>
            <a:pPr marL="0" indent="0" algn="l">
              <a:lnSpc>
                <a:spcPct val="100000"/>
              </a:lnSpc>
              <a:buNone/>
            </a:pPr>
            <a:r>
              <a:rPr lang="en-US" sz="1250" b="1" dirty="0">
                <a:solidFill>
                  <a:srgbClr val="6B6F76"/>
                </a:solidFill>
                <a:latin typeface="Calibri" pitchFamily="34" charset="0"/>
                <a:ea typeface="Calibri" pitchFamily="34" charset="-122"/>
                <a:cs typeface="Calibri" pitchFamily="34" charset="-120"/>
              </a:rPr>
              <a:t>Kaw, printed</a:t>
            </a:r>
            <a:endParaRPr lang="en-US" sz="1250" dirty="0"/>
          </a:p>
        </p:txBody>
      </p:sp>
      <p:pic>
        <p:nvPicPr>
          <p:cNvPr id="12" name="Image 0" descr="Kaw printed ABD matrix"/>
          <p:cNvPicPr>
            <a:picLocks noChangeAspect="1"/>
          </p:cNvPicPr>
          <p:nvPr/>
        </p:nvPicPr>
        <p:blipFill>
          <a:blip r:embed="rId5"/>
          <a:stretch>
            <a:fillRect/>
          </a:stretch>
        </p:blipFill>
        <p:spPr>
          <a:xfrm>
            <a:off x="640080" y="2770632"/>
            <a:ext cx="6400800" cy="1267163"/>
          </a:xfrm>
          <a:prstGeom prst="rect">
            <a:avLst/>
          </a:prstGeom>
        </p:spPr>
      </p:pic>
      <p:sp>
        <p:nvSpPr>
          <p:cNvPr id="13" name="Text 9"/>
          <p:cNvSpPr txBox="1"/>
          <p:nvPr/>
        </p:nvSpPr>
        <p:spPr>
          <a:xfrm>
            <a:off x="640080" y="4114800"/>
            <a:ext cx="2743200" cy="201168"/>
          </a:xfrm>
          <a:prstGeom prst="rect">
            <a:avLst/>
          </a:prstGeom>
          <a:noFill/>
          <a:ln/>
        </p:spPr>
        <p:txBody>
          <a:bodyPr wrap="square" lIns="0" tIns="0" rIns="0" bIns="0" rtlCol="0" anchor="t"/>
          <a:lstStyle/>
          <a:p>
            <a:pPr marL="0" indent="0" algn="l">
              <a:lnSpc>
                <a:spcPct val="100000"/>
              </a:lnSpc>
              <a:buNone/>
            </a:pPr>
            <a:r>
              <a:rPr lang="en-US" sz="1250" b="1" dirty="0">
                <a:solidFill>
                  <a:srgbClr val="FF7A29"/>
                </a:solidFill>
                <a:latin typeface="Calibri" pitchFamily="34" charset="0"/>
                <a:ea typeface="Calibri" pitchFamily="34" charset="-122"/>
                <a:cs typeface="Calibri" pitchFamily="34" charset="-120"/>
              </a:rPr>
              <a:t>App, screenshot</a:t>
            </a:r>
            <a:endParaRPr lang="en-US" sz="1250" dirty="0"/>
          </a:p>
        </p:txBody>
      </p:sp>
      <p:pic>
        <p:nvPicPr>
          <p:cNvPr id="14" name="Image 1" descr="App ABD matrix panel"/>
          <p:cNvPicPr>
            <a:picLocks noChangeAspect="1"/>
          </p:cNvPicPr>
          <p:nvPr/>
        </p:nvPicPr>
        <p:blipFill>
          <a:blip r:embed="rId6"/>
          <a:stretch>
            <a:fillRect/>
          </a:stretch>
        </p:blipFill>
        <p:spPr>
          <a:xfrm>
            <a:off x="640080" y="4343400"/>
            <a:ext cx="6400800" cy="1635999"/>
          </a:xfrm>
          <a:prstGeom prst="rect">
            <a:avLst/>
          </a:prstGeom>
        </p:spPr>
      </p:pic>
      <p:sp>
        <p:nvSpPr>
          <p:cNvPr id="15" name="Text 10"/>
          <p:cNvSpPr txBox="1"/>
          <p:nvPr/>
        </p:nvSpPr>
        <p:spPr>
          <a:xfrm>
            <a:off x="7406640" y="2304288"/>
            <a:ext cx="4142232" cy="237744"/>
          </a:xfrm>
          <a:prstGeom prst="rect">
            <a:avLst/>
          </a:prstGeom>
          <a:noFill/>
          <a:ln/>
        </p:spPr>
        <p:txBody>
          <a:bodyPr wrap="square" lIns="0" tIns="0" rIns="0" bIns="0" rtlCol="0" anchor="t"/>
          <a:lstStyle/>
          <a:p>
            <a:pPr marL="0" indent="0" algn="l">
              <a:lnSpc>
                <a:spcPct val="100000"/>
              </a:lnSpc>
              <a:buNone/>
            </a:pPr>
            <a:r>
              <a:rPr lang="en-US" sz="1450" b="1" dirty="0">
                <a:solidFill>
                  <a:srgbClr val="16181B"/>
                </a:solidFill>
                <a:latin typeface="Calibri" pitchFamily="34" charset="0"/>
                <a:ea typeface="Calibri" pitchFamily="34" charset="-122"/>
                <a:cs typeface="Calibri" pitchFamily="34" charset="-120"/>
              </a:rPr>
              <a:t>Mid-plane strain and curvature</a:t>
            </a:r>
            <a:endParaRPr lang="en-US" sz="1450" dirty="0"/>
          </a:p>
        </p:txBody>
      </p:sp>
      <p:sp>
        <p:nvSpPr>
          <p:cNvPr id="16" name="Text 11"/>
          <p:cNvSpPr txBox="1"/>
          <p:nvPr/>
        </p:nvSpPr>
        <p:spPr>
          <a:xfrm>
            <a:off x="7406640" y="2560320"/>
            <a:ext cx="1828800" cy="201168"/>
          </a:xfrm>
          <a:prstGeom prst="rect">
            <a:avLst/>
          </a:prstGeom>
          <a:noFill/>
          <a:ln/>
        </p:spPr>
        <p:txBody>
          <a:bodyPr wrap="square" lIns="0" tIns="0" rIns="0" bIns="0" rtlCol="0" anchor="t"/>
          <a:lstStyle/>
          <a:p>
            <a:pPr marL="0" indent="0" algn="l">
              <a:lnSpc>
                <a:spcPct val="100000"/>
              </a:lnSpc>
              <a:buNone/>
            </a:pPr>
            <a:r>
              <a:rPr lang="en-US" sz="1250" b="1" dirty="0">
                <a:solidFill>
                  <a:srgbClr val="6B6F76"/>
                </a:solidFill>
                <a:latin typeface="Calibri" pitchFamily="34" charset="0"/>
                <a:ea typeface="Calibri" pitchFamily="34" charset="-122"/>
                <a:cs typeface="Calibri" pitchFamily="34" charset="-120"/>
              </a:rPr>
              <a:t>Kaw, printed</a:t>
            </a:r>
            <a:endParaRPr lang="en-US" sz="1250" dirty="0"/>
          </a:p>
        </p:txBody>
      </p:sp>
      <p:pic>
        <p:nvPicPr>
          <p:cNvPr id="17" name="Image 2" descr="Kaw printed mid-plane strain and curvature"/>
          <p:cNvPicPr>
            <a:picLocks noChangeAspect="1"/>
          </p:cNvPicPr>
          <p:nvPr/>
        </p:nvPicPr>
        <p:blipFill>
          <a:blip r:embed="rId7"/>
          <a:stretch>
            <a:fillRect/>
          </a:stretch>
        </p:blipFill>
        <p:spPr>
          <a:xfrm>
            <a:off x="7406640" y="2770632"/>
            <a:ext cx="1737360" cy="1139016"/>
          </a:xfrm>
          <a:prstGeom prst="rect">
            <a:avLst/>
          </a:prstGeom>
        </p:spPr>
      </p:pic>
      <p:sp>
        <p:nvSpPr>
          <p:cNvPr id="18" name="Text 12"/>
          <p:cNvSpPr txBox="1"/>
          <p:nvPr/>
        </p:nvSpPr>
        <p:spPr>
          <a:xfrm>
            <a:off x="7406640" y="4023360"/>
            <a:ext cx="2743200" cy="201168"/>
          </a:xfrm>
          <a:prstGeom prst="rect">
            <a:avLst/>
          </a:prstGeom>
          <a:noFill/>
          <a:ln/>
        </p:spPr>
        <p:txBody>
          <a:bodyPr wrap="square" lIns="0" tIns="0" rIns="0" bIns="0" rtlCol="0" anchor="t"/>
          <a:lstStyle/>
          <a:p>
            <a:pPr marL="0" indent="0" algn="l">
              <a:lnSpc>
                <a:spcPct val="100000"/>
              </a:lnSpc>
              <a:buNone/>
            </a:pPr>
            <a:r>
              <a:rPr lang="en-US" sz="1250" b="1" dirty="0">
                <a:solidFill>
                  <a:srgbClr val="FF7A29"/>
                </a:solidFill>
                <a:latin typeface="Calibri" pitchFamily="34" charset="0"/>
                <a:ea typeface="Calibri" pitchFamily="34" charset="-122"/>
                <a:cs typeface="Calibri" pitchFamily="34" charset="-120"/>
              </a:rPr>
              <a:t>App, screenshot</a:t>
            </a:r>
            <a:endParaRPr lang="en-US" sz="1250" dirty="0"/>
          </a:p>
        </p:txBody>
      </p:sp>
      <p:pic>
        <p:nvPicPr>
          <p:cNvPr id="19" name="Image 3" descr="App mid-plane strain and curvature"/>
          <p:cNvPicPr>
            <a:picLocks noChangeAspect="1"/>
          </p:cNvPicPr>
          <p:nvPr/>
        </p:nvPicPr>
        <p:blipFill>
          <a:blip r:embed="rId8"/>
          <a:stretch>
            <a:fillRect/>
          </a:stretch>
        </p:blipFill>
        <p:spPr>
          <a:xfrm>
            <a:off x="7406640" y="4242816"/>
            <a:ext cx="4142232" cy="1278398"/>
          </a:xfrm>
          <a:prstGeom prst="rect">
            <a:avLst/>
          </a:prstGeom>
        </p:spPr>
      </p:pic>
      <p:sp>
        <p:nvSpPr>
          <p:cNvPr id="20" name="Text 13"/>
          <p:cNvSpPr txBox="1"/>
          <p:nvPr/>
        </p:nvSpPr>
        <p:spPr>
          <a:xfrm>
            <a:off x="7406640" y="5577840"/>
            <a:ext cx="4142232" cy="566928"/>
          </a:xfrm>
          <a:prstGeom prst="rect">
            <a:avLst/>
          </a:prstGeom>
          <a:noFill/>
          <a:ln/>
        </p:spPr>
        <p:txBody>
          <a:bodyPr wrap="square" lIns="0" tIns="0" rIns="0" bIns="0" rtlCol="0" anchor="t"/>
          <a:lstStyle/>
          <a:p>
            <a:pPr marL="0" indent="0" algn="l">
              <a:lnSpc>
                <a:spcPct val="100000"/>
              </a:lnSpc>
              <a:buNone/>
            </a:pPr>
            <a:r>
              <a:rPr lang="en-US" sz="1250" dirty="0">
                <a:solidFill>
                  <a:srgbClr val="6B6F76"/>
                </a:solidFill>
                <a:latin typeface="Calibri" pitchFamily="34" charset="0"/>
                <a:ea typeface="Calibri" pitchFamily="34" charset="-122"/>
                <a:cs typeface="Calibri" pitchFamily="34" charset="-120"/>
              </a:rPr>
              <a:t>Book: 1.624, −3.532, 4.908 (10⁻⁴) and −0.1403, 0.4210, 0.1536 per m. App: 162.4, −353.2, 490.8 microstrain and the same curvatures.</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06 · VALIDATION AGAINST KAW · STRESS THROUGH THE THICKNESS</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Kaw §4.3: strain table p. 8, stress table p. 9 · app strain and stress table</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13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Ply-face stresses match the book's table on p. 9, which is what failure criteria are applied to</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Stress along the fibres σ1, across them σ2 and shear τ12 at each ply face, in MPa; the book prints pascals.</a:t>
            </a:r>
            <a:endParaRPr lang="en-US" sz="1800" dirty="0"/>
          </a:p>
        </p:txBody>
      </p:sp>
      <p:sp>
        <p:nvSpPr>
          <p:cNvPr id="10" name="Text 7"/>
          <p:cNvSpPr txBox="1"/>
          <p:nvPr/>
        </p:nvSpPr>
        <p:spPr>
          <a:xfrm>
            <a:off x="640080" y="2331720"/>
            <a:ext cx="4023360" cy="237744"/>
          </a:xfrm>
          <a:prstGeom prst="rect">
            <a:avLst/>
          </a:prstGeom>
          <a:noFill/>
          <a:ln/>
        </p:spPr>
        <p:txBody>
          <a:bodyPr wrap="square" lIns="0" tIns="0" rIns="0" bIns="0" rtlCol="0" anchor="t"/>
          <a:lstStyle/>
          <a:p>
            <a:pPr marL="0" indent="0" algn="l">
              <a:lnSpc>
                <a:spcPct val="100000"/>
              </a:lnSpc>
              <a:buNone/>
            </a:pPr>
            <a:r>
              <a:rPr lang="en-US" sz="1250" b="1" dirty="0">
                <a:solidFill>
                  <a:srgbClr val="6B6F76"/>
                </a:solidFill>
                <a:latin typeface="Calibri" pitchFamily="34" charset="0"/>
                <a:ea typeface="Calibri" pitchFamily="34" charset="-122"/>
                <a:cs typeface="Calibri" pitchFamily="34" charset="-120"/>
              </a:rPr>
              <a:t>Kaw, printed, p. 9 (top, middle and bottom of each ply)</a:t>
            </a:r>
            <a:endParaRPr lang="en-US" sz="1250" dirty="0"/>
          </a:p>
        </p:txBody>
      </p:sp>
      <p:pic>
        <p:nvPicPr>
          <p:cNvPr id="11" name="Image 0" descr="Kaw printed local stress table"/>
          <p:cNvPicPr>
            <a:picLocks noChangeAspect="1"/>
          </p:cNvPicPr>
          <p:nvPr/>
        </p:nvPicPr>
        <p:blipFill>
          <a:blip r:embed="rId5"/>
          <a:stretch>
            <a:fillRect/>
          </a:stretch>
        </p:blipFill>
        <p:spPr>
          <a:xfrm>
            <a:off x="640080" y="2596896"/>
            <a:ext cx="4023360" cy="2364567"/>
          </a:xfrm>
          <a:prstGeom prst="rect">
            <a:avLst/>
          </a:prstGeom>
        </p:spPr>
      </p:pic>
      <p:sp>
        <p:nvSpPr>
          <p:cNvPr id="12" name="Text 8"/>
          <p:cNvSpPr txBox="1"/>
          <p:nvPr/>
        </p:nvSpPr>
        <p:spPr>
          <a:xfrm>
            <a:off x="4937760" y="2331720"/>
            <a:ext cx="6611112" cy="237744"/>
          </a:xfrm>
          <a:prstGeom prst="rect">
            <a:avLst/>
          </a:prstGeom>
          <a:noFill/>
          <a:ln/>
        </p:spPr>
        <p:txBody>
          <a:bodyPr wrap="square" lIns="0" tIns="0" rIns="0" bIns="0" rtlCol="0" anchor="t"/>
          <a:lstStyle/>
          <a:p>
            <a:pPr marL="0" indent="0" algn="l">
              <a:lnSpc>
                <a:spcPct val="100000"/>
              </a:lnSpc>
              <a:buNone/>
            </a:pPr>
            <a:r>
              <a:rPr lang="en-US" sz="1250" b="1" dirty="0">
                <a:solidFill>
                  <a:srgbClr val="FF7A29"/>
                </a:solidFill>
                <a:latin typeface="Calibri" pitchFamily="34" charset="0"/>
                <a:ea typeface="Calibri" pitchFamily="34" charset="-122"/>
                <a:cs typeface="Calibri" pitchFamily="34" charset="-120"/>
              </a:rPr>
              <a:t>App, screenshot (the two faces of each ply; strain columns left out)</a:t>
            </a:r>
            <a:endParaRPr lang="en-US" sz="1250" dirty="0"/>
          </a:p>
        </p:txBody>
      </p:sp>
      <p:pic>
        <p:nvPicPr>
          <p:cNvPr id="13" name="Image 1" descr="App stress table per ply face"/>
          <p:cNvPicPr>
            <a:picLocks noChangeAspect="1"/>
          </p:cNvPicPr>
          <p:nvPr/>
        </p:nvPicPr>
        <p:blipFill>
          <a:blip r:embed="rId6"/>
          <a:stretch>
            <a:fillRect/>
          </a:stretch>
        </p:blipFill>
        <p:spPr>
          <a:xfrm>
            <a:off x="4937760" y="2596896"/>
            <a:ext cx="6611112" cy="1917882"/>
          </a:xfrm>
          <a:prstGeom prst="rect">
            <a:avLst/>
          </a:prstGeom>
        </p:spPr>
      </p:pic>
      <p:sp>
        <p:nvSpPr>
          <p:cNvPr id="14" name="Text 9"/>
          <p:cNvSpPr txBox="1"/>
          <p:nvPr/>
        </p:nvSpPr>
        <p:spPr>
          <a:xfrm>
            <a:off x="4937760" y="4645152"/>
            <a:ext cx="6611112" cy="868680"/>
          </a:xfrm>
          <a:prstGeom prst="rect">
            <a:avLst/>
          </a:prstGeom>
          <a:noFill/>
          <a:ln/>
        </p:spPr>
        <p:txBody>
          <a:bodyPr wrap="square" lIns="0" tIns="0" rIns="0" bIns="0" rtlCol="0" anchor="t"/>
          <a:lstStyle/>
          <a:p>
            <a:pPr marL="0" indent="0" algn="l">
              <a:lnSpc>
                <a:spcPct val="100000"/>
              </a:lnSpc>
              <a:buNone/>
            </a:pPr>
            <a:r>
              <a:rPr lang="en-US" sz="1300" dirty="0">
                <a:solidFill>
                  <a:srgbClr val="6B6F76"/>
                </a:solidFill>
                <a:latin typeface="Calibri" pitchFamily="34" charset="0"/>
                <a:ea typeface="Calibri" pitchFamily="34" charset="-122"/>
                <a:cs typeface="Calibri" pitchFamily="34" charset="-120"/>
              </a:rPr>
              <a:t>The strain table (p. 8) matches the same way: ply 1 at z = −7.5 mm is −2.532(10⁻⁴), −2.043(10⁻³), −4.423(10⁻³) in the book and −253, −2043, −4423 microstrain in the app. The middle rows, which the app screen leaves out, are compared in the verification report; the largest relative gap, 0.0396 %, is τ12 of ply 1 at z = −5 mm.</a:t>
            </a:r>
            <a:endParaRPr lang="en-US" sz="1300" dirty="0"/>
          </a:p>
        </p:txBody>
      </p:sp>
      <p:sp>
        <p:nvSpPr>
          <p:cNvPr id="15" name="Shape 10"/>
          <p:cNvSpPr/>
          <p:nvPr/>
        </p:nvSpPr>
        <p:spPr>
          <a:xfrm>
            <a:off x="640080" y="5596128"/>
            <a:ext cx="10908792" cy="530352"/>
          </a:xfrm>
          <a:prstGeom prst="rect">
            <a:avLst/>
          </a:prstGeom>
          <a:solidFill>
            <a:srgbClr val="16181B"/>
          </a:solidFill>
          <a:ln w="12700">
            <a:solidFill>
              <a:srgbClr val="16181B"/>
            </a:solidFill>
            <a:prstDash val="solid"/>
          </a:ln>
        </p:spPr>
        <p:txBody>
          <a:bodyPr/>
          <a:lstStyle/>
          <a:p>
            <a:endParaRPr lang="en-US"/>
          </a:p>
        </p:txBody>
      </p:sp>
      <p:sp>
        <p:nvSpPr>
          <p:cNvPr id="16" name="Text 11"/>
          <p:cNvSpPr txBox="1"/>
          <p:nvPr/>
        </p:nvSpPr>
        <p:spPr>
          <a:xfrm>
            <a:off x="859536" y="5596128"/>
            <a:ext cx="10469880" cy="530352"/>
          </a:xfrm>
          <a:prstGeom prst="rect">
            <a:avLst/>
          </a:prstGeom>
          <a:noFill/>
          <a:ln/>
        </p:spPr>
        <p:txBody>
          <a:bodyPr wrap="square" lIns="0" tIns="0" rIns="0" bIns="0" rtlCol="0" anchor="ctr"/>
          <a:lstStyle/>
          <a:p>
            <a:pPr marL="0" indent="0" algn="l">
              <a:lnSpc>
                <a:spcPct val="100000"/>
              </a:lnSpc>
              <a:buNone/>
            </a:pPr>
            <a:r>
              <a:rPr lang="en-US" sz="1450" b="1" dirty="0">
                <a:solidFill>
                  <a:srgbClr val="FF7A29"/>
                </a:solidFill>
                <a:latin typeface="Calibri" pitchFamily="34" charset="0"/>
                <a:ea typeface="Calibri" pitchFamily="34" charset="-122"/>
                <a:cs typeface="Calibri" pitchFamily="34" charset="-120"/>
              </a:rPr>
              <a:t>Book "Top" is the app's "Bottom" (book z points down, app z up): at z = −7.5 mm σ1 is −1.438·10⁷ Pa in the book and −14.38 MPa in the app.</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3"/>
        </a:solidFill>
        <a:effectLst/>
      </p:bgPr>
    </p:bg>
    <p:spTree>
      <p:nvGrpSpPr>
        <p:cNvPr id="1" name=""/>
        <p:cNvGrpSpPr/>
        <p:nvPr/>
      </p:nvGrpSpPr>
      <p:grpSpPr>
        <a:xfrm>
          <a:off x="0" y="0"/>
          <a:ext cx="0" cy="0"/>
          <a:chOff x="0" y="0"/>
          <a:chExt cx="0" cy="0"/>
        </a:xfrm>
      </p:grpSpPr>
      <p:sp>
        <p:nvSpPr>
          <p:cNvPr id="3" name="Text 0"/>
          <p:cNvSpPr txBox="1"/>
          <p:nvPr/>
        </p:nvSpPr>
        <p:spPr>
          <a:xfrm>
            <a:off x="640080" y="329184"/>
            <a:ext cx="10908792" cy="237744"/>
          </a:xfrm>
          <a:prstGeom prst="rect">
            <a:avLst/>
          </a:prstGeom>
          <a:noFill/>
          <a:ln/>
        </p:spPr>
        <p:txBody>
          <a:bodyPr wrap="square" lIns="0" tIns="0" rIns="0" bIns="0" rtlCol="0" anchor="ctr"/>
          <a:lstStyle/>
          <a:p>
            <a:pPr marL="0" indent="0" algn="l">
              <a:lnSpc>
                <a:spcPct val="100000"/>
              </a:lnSpc>
              <a:buNone/>
            </a:pPr>
            <a:r>
              <a:rPr lang="en-US" sz="1100" b="1" dirty="0">
                <a:solidFill>
                  <a:srgbClr val="FF7A29"/>
                </a:solidFill>
                <a:latin typeface="Calibri" pitchFamily="34" charset="0"/>
                <a:ea typeface="Calibri" pitchFamily="34" charset="-122"/>
                <a:cs typeface="Calibri" pitchFamily="34" charset="-120"/>
              </a:rPr>
              <a:t>07 · STATUS</a:t>
            </a:r>
            <a:endParaRPr lang="en-US" sz="1100" dirty="0"/>
          </a:p>
        </p:txBody>
      </p:sp>
      <p:sp>
        <p:nvSpPr>
          <p:cNvPr id="4" name="Shape 1"/>
          <p:cNvSpPr/>
          <p:nvPr/>
        </p:nvSpPr>
        <p:spPr>
          <a:xfrm>
            <a:off x="640080" y="603504"/>
            <a:ext cx="566928" cy="18288"/>
          </a:xfrm>
          <a:prstGeom prst="rect">
            <a:avLst/>
          </a:prstGeom>
          <a:solidFill>
            <a:srgbClr val="16181B"/>
          </a:solidFill>
          <a:ln w="12700">
            <a:solidFill>
              <a:srgbClr val="16181B"/>
            </a:solidFill>
            <a:prstDash val="solid"/>
          </a:ln>
        </p:spPr>
        <p:txBody>
          <a:bodyPr/>
          <a:lstStyle/>
          <a:p>
            <a:endParaRPr lang="en-US"/>
          </a:p>
        </p:txBody>
      </p:sp>
      <p:sp>
        <p:nvSpPr>
          <p:cNvPr id="5" name="Text 2"/>
          <p:cNvSpPr txBox="1"/>
          <p:nvPr/>
        </p:nvSpPr>
        <p:spPr>
          <a:xfrm>
            <a:off x="640080" y="6236208"/>
            <a:ext cx="10908792" cy="182880"/>
          </a:xfrm>
          <a:prstGeom prst="rect">
            <a:avLst/>
          </a:prstGeom>
          <a:noFill/>
          <a:ln/>
        </p:spPr>
        <p:txBody>
          <a:bodyPr wrap="square" lIns="0" tIns="0" rIns="0" bIns="0" rtlCol="0" anchor="ctr"/>
          <a:lstStyle/>
          <a:p>
            <a:pPr marL="0" indent="0" algn="l">
              <a:lnSpc>
                <a:spcPct val="100000"/>
              </a:lnSpc>
              <a:buNone/>
            </a:pPr>
            <a:r>
              <a:rPr lang="en-US" sz="1000" dirty="0">
                <a:solidFill>
                  <a:srgbClr val="9DA2A8"/>
                </a:solidFill>
                <a:latin typeface="Calibri" pitchFamily="34" charset="0"/>
                <a:ea typeface="Calibri" pitchFamily="34" charset="-122"/>
                <a:cs typeface="Calibri" pitchFamily="34" charset="-120"/>
              </a:rPr>
              <a:t>Live app: </a:t>
            </a:r>
            <a:r>
              <a:rPr lang="en-US" sz="100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composite-laminate-tool.streamlit.app</a:t>
            </a:r>
            <a:r>
              <a:rPr lang="en-US" sz="1000" dirty="0">
                <a:solidFill>
                  <a:srgbClr val="9DA2A8"/>
                </a:solidFill>
                <a:latin typeface="Calibri" pitchFamily="34" charset="0"/>
                <a:ea typeface="Calibri" pitchFamily="34" charset="-122"/>
                <a:cs typeface="Calibri" pitchFamily="34" charset="-120"/>
              </a:rPr>
              <a:t> · repository on GitHub</a:t>
            </a:r>
            <a:endParaRPr lang="en-US" sz="1000" dirty="0"/>
          </a:p>
        </p:txBody>
      </p:sp>
      <p:sp>
        <p:nvSpPr>
          <p:cNvPr id="6" name="Text 3"/>
          <p:cNvSpPr txBox="1"/>
          <p:nvPr/>
        </p:nvSpPr>
        <p:spPr>
          <a:xfrm>
            <a:off x="640080" y="6492240"/>
            <a:ext cx="9994392" cy="201168"/>
          </a:xfrm>
          <a:prstGeom prst="rect">
            <a:avLst/>
          </a:prstGeom>
          <a:noFill/>
          <a:ln/>
        </p:spPr>
        <p:txBody>
          <a:bodyPr wrap="square" lIns="0" tIns="0" rIns="0" bIns="0" rtlCol="0" anchor="ctr"/>
          <a:lstStyle/>
          <a:p>
            <a:pPr marL="0" indent="0" algn="l">
              <a:lnSpc>
                <a:spcPct val="100000"/>
              </a:lnSpc>
              <a:buNone/>
            </a:pPr>
            <a:r>
              <a:rPr lang="en-US" sz="950" dirty="0">
                <a:solidFill>
                  <a:srgbClr val="9DA2A8"/>
                </a:solidFill>
                <a:latin typeface="Calibri" pitchFamily="34" charset="0"/>
                <a:ea typeface="Calibri" pitchFamily="34" charset="-122"/>
                <a:cs typeface="Calibri" pitchFamily="34" charset="-120"/>
              </a:rPr>
              <a:t>Artem Khan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4">
                  <a:extLst>
                    <a:ext uri="{A12FA001-AC4F-418D-AE19-62706E023703}">
                      <ahyp:hlinkClr xmlns:ahyp="http://schemas.microsoft.com/office/drawing/2018/hyperlinkcolor" val="tx"/>
                    </a:ext>
                  </a:extLst>
                </a:hlinkClick>
              </a:rPr>
              <a:t>GitHub repository</a:t>
            </a:r>
            <a:r>
              <a:rPr lang="en-US" sz="950" dirty="0">
                <a:solidFill>
                  <a:srgbClr val="9DA2A8"/>
                </a:solidFill>
                <a:latin typeface="Calibri" pitchFamily="34" charset="0"/>
                <a:ea typeface="Calibri" pitchFamily="34" charset="-122"/>
                <a:cs typeface="Calibri" pitchFamily="34" charset="-120"/>
              </a:rPr>
              <a:t> · </a:t>
            </a:r>
            <a:r>
              <a:rPr lang="en-US" sz="950" u="sng" dirty="0">
                <a:solidFill>
                  <a:srgbClr val="9DA2A8"/>
                </a:solidFill>
                <a:uFill>
                  <a:solidFill>
                    <a:srgbClr val="9DA2A8"/>
                  </a:solidFill>
                </a:u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Live application</a:t>
            </a:r>
            <a:r>
              <a:rPr lang="en-US" sz="950" dirty="0">
                <a:solidFill>
                  <a:srgbClr val="9DA2A8"/>
                </a:solidFill>
                <a:latin typeface="Calibri" pitchFamily="34" charset="0"/>
                <a:ea typeface="Calibri" pitchFamily="34" charset="-122"/>
                <a:cs typeface="Calibri" pitchFamily="34" charset="-120"/>
              </a:rPr>
              <a:t> · 8 Oct 2026</a:t>
            </a:r>
            <a:endParaRPr lang="en-US" sz="950" dirty="0"/>
          </a:p>
        </p:txBody>
      </p:sp>
      <p:sp>
        <p:nvSpPr>
          <p:cNvPr id="7" name="Text 4"/>
          <p:cNvSpPr txBox="1"/>
          <p:nvPr/>
        </p:nvSpPr>
        <p:spPr>
          <a:xfrm>
            <a:off x="10634472" y="6492240"/>
            <a:ext cx="914400" cy="201168"/>
          </a:xfrm>
          <a:prstGeom prst="rect">
            <a:avLst/>
          </a:prstGeom>
          <a:noFill/>
          <a:ln/>
        </p:spPr>
        <p:txBody>
          <a:bodyPr wrap="square" lIns="0" tIns="0" rIns="0" bIns="0" rtlCol="0" anchor="ctr"/>
          <a:lstStyle/>
          <a:p>
            <a:pPr marL="0" indent="0" algn="r">
              <a:lnSpc>
                <a:spcPct val="100000"/>
              </a:lnSpc>
              <a:buNone/>
            </a:pPr>
            <a:r>
              <a:rPr lang="en-US" sz="950" dirty="0">
                <a:solidFill>
                  <a:srgbClr val="9DA2A8"/>
                </a:solidFill>
                <a:latin typeface="Calibri" pitchFamily="34" charset="0"/>
                <a:ea typeface="Calibri" pitchFamily="34" charset="-122"/>
                <a:cs typeface="Calibri" pitchFamily="34" charset="-120"/>
              </a:rPr>
              <a:t>14 / 14</a:t>
            </a:r>
            <a:endParaRPr lang="en-US" sz="950" dirty="0"/>
          </a:p>
        </p:txBody>
      </p:sp>
      <p:sp>
        <p:nvSpPr>
          <p:cNvPr id="8" name="Text 5"/>
          <p:cNvSpPr txBox="1"/>
          <p:nvPr/>
        </p:nvSpPr>
        <p:spPr>
          <a:xfrm>
            <a:off x="640080" y="731520"/>
            <a:ext cx="10908792" cy="960120"/>
          </a:xfrm>
          <a:prstGeom prst="rect">
            <a:avLst/>
          </a:prstGeom>
          <a:noFill/>
          <a:ln/>
        </p:spPr>
        <p:txBody>
          <a:bodyPr wrap="square" lIns="0" tIns="0" rIns="0" bIns="0" rtlCol="0" anchor="t"/>
          <a:lstStyle/>
          <a:p>
            <a:pPr marL="0" indent="0" algn="l">
              <a:lnSpc>
                <a:spcPct val="95000"/>
              </a:lnSpc>
              <a:buNone/>
            </a:pPr>
            <a:r>
              <a:rPr lang="en-US" sz="2900" b="1" dirty="0">
                <a:solidFill>
                  <a:srgbClr val="16181B"/>
                </a:solidFill>
                <a:latin typeface="Calibri" pitchFamily="34" charset="0"/>
                <a:ea typeface="Calibri" pitchFamily="34" charset="-122"/>
                <a:cs typeface="Calibri" pitchFamily="34" charset="-120"/>
              </a:rPr>
              <a:t>The app is checked where a reference exists and labelled where none does, so it is a screening tool, not a predictor</a:t>
            </a:r>
            <a:endParaRPr lang="en-US" sz="2900" dirty="0"/>
          </a:p>
        </p:txBody>
      </p:sp>
      <p:sp>
        <p:nvSpPr>
          <p:cNvPr id="9" name="Text 6"/>
          <p:cNvSpPr txBox="1"/>
          <p:nvPr/>
        </p:nvSpPr>
        <p:spPr>
          <a:xfrm>
            <a:off x="640080" y="1691640"/>
            <a:ext cx="10908792" cy="576072"/>
          </a:xfrm>
          <a:prstGeom prst="rect">
            <a:avLst/>
          </a:prstGeom>
          <a:noFill/>
          <a:ln/>
        </p:spPr>
        <p:txBody>
          <a:bodyPr wrap="square" lIns="0" tIns="0" rIns="0" bIns="0" rtlCol="0" anchor="t"/>
          <a:lstStyle/>
          <a:p>
            <a:pPr marL="0" indent="0" algn="l">
              <a:lnSpc>
                <a:spcPct val="100000"/>
              </a:lnSpc>
              <a:buNone/>
            </a:pPr>
            <a:r>
              <a:rPr lang="en-US" sz="1800" b="1" dirty="0">
                <a:solidFill>
                  <a:srgbClr val="FF7A29"/>
                </a:solidFill>
                <a:latin typeface="Calibri" pitchFamily="34" charset="0"/>
                <a:ea typeface="Calibri" pitchFamily="34" charset="-122"/>
                <a:cs typeface="Calibri" pitchFamily="34" charset="-120"/>
              </a:rPr>
              <a:t>Stiffness and stress are verified against a textbook; failure and pressure numbers are model results.</a:t>
            </a:r>
            <a:endParaRPr lang="en-US" sz="1800" dirty="0"/>
          </a:p>
        </p:txBody>
      </p:sp>
      <p:sp>
        <p:nvSpPr>
          <p:cNvPr id="10" name="Text 7"/>
          <p:cNvSpPr txBox="1"/>
          <p:nvPr/>
        </p:nvSpPr>
        <p:spPr>
          <a:xfrm>
            <a:off x="640080" y="2459736"/>
            <a:ext cx="521208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Checked, and what that gives</a:t>
            </a:r>
            <a:endParaRPr lang="en-US" sz="1650" dirty="0"/>
          </a:p>
        </p:txBody>
      </p:sp>
      <p:sp>
        <p:nvSpPr>
          <p:cNvPr id="11" name="Shape 8"/>
          <p:cNvSpPr/>
          <p:nvPr/>
        </p:nvSpPr>
        <p:spPr>
          <a:xfrm>
            <a:off x="640080" y="2770632"/>
            <a:ext cx="5212080" cy="18288"/>
          </a:xfrm>
          <a:prstGeom prst="rect">
            <a:avLst/>
          </a:prstGeom>
          <a:solidFill>
            <a:srgbClr val="16181B"/>
          </a:solidFill>
          <a:ln w="12700">
            <a:solidFill>
              <a:srgbClr val="16181B"/>
            </a:solidFill>
            <a:prstDash val="solid"/>
          </a:ln>
        </p:spPr>
        <p:txBody>
          <a:bodyPr/>
          <a:lstStyle/>
          <a:p>
            <a:endParaRPr lang="en-US"/>
          </a:p>
        </p:txBody>
      </p:sp>
      <p:sp>
        <p:nvSpPr>
          <p:cNvPr id="12" name="Text 9"/>
          <p:cNvSpPr txBox="1"/>
          <p:nvPr/>
        </p:nvSpPr>
        <p:spPr>
          <a:xfrm>
            <a:off x="640080" y="2953512"/>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3" name="Text 10"/>
          <p:cNvSpPr txBox="1"/>
          <p:nvPr/>
        </p:nvSpPr>
        <p:spPr>
          <a:xfrm>
            <a:off x="896112" y="2880360"/>
            <a:ext cx="4956048" cy="804672"/>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Stiffness, strain, stress and ply forces match Kaw's example for this stack and load; one example supports the chain, it does not cover every case.</a:t>
            </a:r>
            <a:endParaRPr lang="en-US" sz="1450" dirty="0"/>
          </a:p>
        </p:txBody>
      </p:sp>
      <p:sp>
        <p:nvSpPr>
          <p:cNvPr id="14" name="Text 11"/>
          <p:cNvSpPr txBox="1"/>
          <p:nvPr/>
        </p:nvSpPr>
        <p:spPr>
          <a:xfrm>
            <a:off x="640080" y="3776472"/>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5" name="Text 12"/>
          <p:cNvSpPr txBox="1"/>
          <p:nvPr/>
        </p:nvSpPr>
        <p:spPr>
          <a:xfrm>
            <a:off x="896112" y="3703320"/>
            <a:ext cx="4956048" cy="804672"/>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175 tests, two audits and a second AI review found and fixed errors, so the code is not simply believed.</a:t>
            </a:r>
            <a:endParaRPr lang="en-US" sz="1450" dirty="0"/>
          </a:p>
        </p:txBody>
      </p:sp>
      <p:sp>
        <p:nvSpPr>
          <p:cNvPr id="16" name="Text 13"/>
          <p:cNvSpPr txBox="1"/>
          <p:nvPr/>
        </p:nvSpPr>
        <p:spPr>
          <a:xfrm>
            <a:off x="640080" y="4599432"/>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17" name="Text 14"/>
          <p:cNvSpPr txBox="1"/>
          <p:nvPr/>
        </p:nvSpPr>
        <p:spPr>
          <a:xfrm>
            <a:off x="896112" y="4526280"/>
            <a:ext cx="4956048" cy="804672"/>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Key numbers are frozen in tests/snapshot_v3.json, so later edits cannot change them unnoticed.</a:t>
            </a:r>
            <a:endParaRPr lang="en-US" sz="1450" dirty="0"/>
          </a:p>
        </p:txBody>
      </p:sp>
      <p:sp>
        <p:nvSpPr>
          <p:cNvPr id="18" name="Text 15"/>
          <p:cNvSpPr txBox="1"/>
          <p:nvPr/>
        </p:nvSpPr>
        <p:spPr>
          <a:xfrm>
            <a:off x="6336792" y="2459736"/>
            <a:ext cx="5212080" cy="256032"/>
          </a:xfrm>
          <a:prstGeom prst="rect">
            <a:avLst/>
          </a:prstGeom>
          <a:noFill/>
          <a:ln/>
        </p:spPr>
        <p:txBody>
          <a:bodyPr wrap="square" lIns="0" tIns="0" rIns="0" bIns="0" rtlCol="0" anchor="ctr"/>
          <a:lstStyle/>
          <a:p>
            <a:pPr marL="0" indent="0" algn="l">
              <a:lnSpc>
                <a:spcPct val="100000"/>
              </a:lnSpc>
              <a:buNone/>
            </a:pPr>
            <a:r>
              <a:rPr lang="en-US" sz="1650" b="1" dirty="0">
                <a:solidFill>
                  <a:srgbClr val="16181B"/>
                </a:solidFill>
                <a:latin typeface="Calibri" pitchFamily="34" charset="0"/>
                <a:ea typeface="Calibri" pitchFamily="34" charset="-122"/>
                <a:cs typeface="Calibri" pitchFamily="34" charset="-120"/>
              </a:rPr>
              <a:t>Assumed, and what that limits</a:t>
            </a:r>
            <a:endParaRPr lang="en-US" sz="1650" dirty="0"/>
          </a:p>
        </p:txBody>
      </p:sp>
      <p:sp>
        <p:nvSpPr>
          <p:cNvPr id="19" name="Shape 16"/>
          <p:cNvSpPr/>
          <p:nvPr/>
        </p:nvSpPr>
        <p:spPr>
          <a:xfrm>
            <a:off x="6336792" y="2770632"/>
            <a:ext cx="5212080" cy="18288"/>
          </a:xfrm>
          <a:prstGeom prst="rect">
            <a:avLst/>
          </a:prstGeom>
          <a:solidFill>
            <a:srgbClr val="16181B"/>
          </a:solidFill>
          <a:ln w="12700">
            <a:solidFill>
              <a:srgbClr val="16181B"/>
            </a:solidFill>
            <a:prstDash val="solid"/>
          </a:ln>
        </p:spPr>
        <p:txBody>
          <a:bodyPr/>
          <a:lstStyle/>
          <a:p>
            <a:endParaRPr lang="en-US"/>
          </a:p>
        </p:txBody>
      </p:sp>
      <p:sp>
        <p:nvSpPr>
          <p:cNvPr id="20" name="Text 17"/>
          <p:cNvSpPr txBox="1"/>
          <p:nvPr/>
        </p:nvSpPr>
        <p:spPr>
          <a:xfrm>
            <a:off x="6336792" y="2953512"/>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21" name="Text 18"/>
          <p:cNvSpPr txBox="1"/>
          <p:nvPr/>
        </p:nvSpPr>
        <p:spPr>
          <a:xfrm>
            <a:off x="6592824" y="2880360"/>
            <a:ext cx="4956048" cy="804672"/>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Strengths and damage factors are model inputs: the model stop moves from 5.96 to 7.13 MPa with them, so it is a screening value.</a:t>
            </a:r>
            <a:endParaRPr lang="en-US" sz="1450" dirty="0"/>
          </a:p>
        </p:txBody>
      </p:sp>
      <p:sp>
        <p:nvSpPr>
          <p:cNvPr id="22" name="Text 19"/>
          <p:cNvSpPr txBox="1"/>
          <p:nvPr/>
        </p:nvSpPr>
        <p:spPr>
          <a:xfrm>
            <a:off x="6336792" y="3776472"/>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23" name="Text 20"/>
          <p:cNvSpPr txBox="1"/>
          <p:nvPr/>
        </p:nvSpPr>
        <p:spPr>
          <a:xfrm>
            <a:off x="6592824" y="3703320"/>
            <a:ext cx="4956048" cy="804672"/>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The textbook prints no strengths, so no failure load is checked against it.</a:t>
            </a:r>
            <a:endParaRPr lang="en-US" sz="1450" dirty="0"/>
          </a:p>
        </p:txBody>
      </p:sp>
      <p:sp>
        <p:nvSpPr>
          <p:cNvPr id="24" name="Text 21"/>
          <p:cNvSpPr txBox="1"/>
          <p:nvPr/>
        </p:nvSpPr>
        <p:spPr>
          <a:xfrm>
            <a:off x="6336792" y="4599432"/>
            <a:ext cx="228600" cy="265176"/>
          </a:xfrm>
          <a:prstGeom prst="rect">
            <a:avLst/>
          </a:prstGeom>
          <a:noFill/>
          <a:ln/>
        </p:spPr>
        <p:txBody>
          <a:bodyPr wrap="square" lIns="0" tIns="0" rIns="0" bIns="0" rtlCol="0" anchor="t"/>
          <a:lstStyle/>
          <a:p>
            <a:pPr marL="0" indent="0" algn="l">
              <a:lnSpc>
                <a:spcPct val="100000"/>
              </a:lnSpc>
              <a:buNone/>
            </a:pPr>
            <a:r>
              <a:rPr lang="en-US" sz="1500" dirty="0">
                <a:solidFill>
                  <a:srgbClr val="FF7A29"/>
                </a:solidFill>
                <a:latin typeface="Calibri" pitchFamily="34" charset="0"/>
                <a:ea typeface="Calibri" pitchFamily="34" charset="-122"/>
                <a:cs typeface="Calibri" pitchFamily="34" charset="-120"/>
              </a:rPr>
              <a:t>—</a:t>
            </a:r>
            <a:endParaRPr lang="en-US" sz="1500" dirty="0"/>
          </a:p>
        </p:txBody>
      </p:sp>
      <p:sp>
        <p:nvSpPr>
          <p:cNvPr id="25" name="Text 22"/>
          <p:cNvSpPr txBox="1"/>
          <p:nvPr/>
        </p:nvSpPr>
        <p:spPr>
          <a:xfrm>
            <a:off x="6592824" y="4526280"/>
            <a:ext cx="4956048" cy="804672"/>
          </a:xfrm>
          <a:prstGeom prst="rect">
            <a:avLst/>
          </a:prstGeom>
          <a:noFill/>
          <a:ln/>
        </p:spPr>
        <p:txBody>
          <a:bodyPr wrap="square" lIns="0" tIns="0" rIns="0" bIns="0" rtlCol="0" anchor="t"/>
          <a:lstStyle/>
          <a:p>
            <a:pPr marL="0" indent="0" algn="l">
              <a:lnSpc>
                <a:spcPct val="100000"/>
              </a:lnSpc>
              <a:buNone/>
            </a:pPr>
            <a:r>
              <a:rPr lang="en-US" sz="1450" dirty="0">
                <a:solidFill>
                  <a:srgbClr val="16181B"/>
                </a:solidFill>
                <a:latin typeface="Calibri" pitchFamily="34" charset="0"/>
                <a:ea typeface="Calibri" pitchFamily="34" charset="-122"/>
                <a:cs typeface="Calibri" pitchFamily="34" charset="-120"/>
              </a:rPr>
              <a:t>No experimental comparison yet: a function for vessel burst tests exists in validation/, but its four potential data sources are unverified.</a:t>
            </a:r>
            <a:endParaRPr lang="en-US" sz="1450" dirty="0"/>
          </a:p>
        </p:txBody>
      </p:sp>
      <p:sp>
        <p:nvSpPr>
          <p:cNvPr id="26" name="Shape 23"/>
          <p:cNvSpPr/>
          <p:nvPr/>
        </p:nvSpPr>
        <p:spPr>
          <a:xfrm>
            <a:off x="640080" y="5486400"/>
            <a:ext cx="10908792" cy="621792"/>
          </a:xfrm>
          <a:prstGeom prst="rect">
            <a:avLst/>
          </a:prstGeom>
          <a:solidFill>
            <a:srgbClr val="16181B"/>
          </a:solidFill>
          <a:ln w="12700">
            <a:solidFill>
              <a:srgbClr val="16181B"/>
            </a:solidFill>
            <a:prstDash val="solid"/>
          </a:ln>
        </p:spPr>
        <p:txBody>
          <a:bodyPr/>
          <a:lstStyle/>
          <a:p>
            <a:endParaRPr lang="en-US"/>
          </a:p>
        </p:txBody>
      </p:sp>
      <p:sp>
        <p:nvSpPr>
          <p:cNvPr id="27" name="Text 24"/>
          <p:cNvSpPr txBox="1"/>
          <p:nvPr/>
        </p:nvSpPr>
        <p:spPr>
          <a:xfrm>
            <a:off x="859536" y="5486400"/>
            <a:ext cx="10469880" cy="621792"/>
          </a:xfrm>
          <a:prstGeom prst="rect">
            <a:avLst/>
          </a:prstGeom>
          <a:noFill/>
          <a:ln/>
        </p:spPr>
        <p:txBody>
          <a:bodyPr wrap="square" lIns="0" tIns="0" rIns="0" bIns="0" rtlCol="0" anchor="ctr"/>
          <a:lstStyle/>
          <a:p>
            <a:pPr marL="0" indent="0" algn="l">
              <a:lnSpc>
                <a:spcPct val="100000"/>
              </a:lnSpc>
              <a:buNone/>
            </a:pPr>
            <a:r>
              <a:rPr lang="en-US" sz="1500" b="1" dirty="0">
                <a:solidFill>
                  <a:srgbClr val="FF7A29"/>
                </a:solidFill>
                <a:latin typeface="Calibri" pitchFamily="34" charset="0"/>
                <a:ea typeface="Calibri" pitchFamily="34" charset="-122"/>
                <a:cs typeface="Calibri" pitchFamily="34" charset="-120"/>
              </a:rPr>
              <a:t>Use it to screen and to teach laminate behaviour; do not quote its failure or pressure numbers as predictions.</a:t>
            </a:r>
            <a:endParaRPr lang="en-US" sz="1500" dirty="0"/>
          </a:p>
        </p:txBody>
      </p:sp>
    </p:spTree>
  </p:cSld>
  <p:clrMapOvr>
    <a:masterClrMapping/>
  </p:clrMapOvr>
</p:sld>
</file>

<file path=ppt/theme/theme1.xml><?xml version="1.0" encoding="utf-8"?>
<a:theme xmlns:a="http://schemas.openxmlformats.org/drawingml/2006/main" name="Signal and Graphite">
  <a:themeElements>
    <a:clrScheme name="Signal and Graphite">
      <a:dk1>
        <a:srgbClr val="16181B"/>
      </a:dk1>
      <a:lt1>
        <a:srgbClr val="F4F4F3"/>
      </a:lt1>
      <a:dk2>
        <a:srgbClr val="6B6F76"/>
      </a:dk2>
      <a:lt2>
        <a:srgbClr val="D8D6D2"/>
      </a:lt2>
      <a:accent1>
        <a:srgbClr val="FF7A29"/>
      </a:accent1>
      <a:accent2>
        <a:srgbClr val="9DA2A8"/>
      </a:accent2>
      <a:accent3>
        <a:srgbClr val="FFE2CC"/>
      </a:accent3>
      <a:accent4>
        <a:srgbClr val="16181B"/>
      </a:accent4>
      <a:accent5>
        <a:srgbClr val="6B6F76"/>
      </a:accent5>
      <a:accent6>
        <a:srgbClr val="FF7A29"/>
      </a:accent6>
      <a:hlink>
        <a:srgbClr val="FF7A29"/>
      </a:hlink>
      <a:folHlink>
        <a:srgbClr val="6B6F76"/>
      </a:folHlink>
    </a:clrScheme>
    <a:fontScheme name="Signal and Graph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3751</Words>
  <Application>Microsoft Office PowerPoint</Application>
  <PresentationFormat>Widescreen</PresentationFormat>
  <Paragraphs>299</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Signal and Graphite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Composite laminate tool: program, AI-assisted build and validation</dc:title>
  <dc:subject>PptxGenJS Presentation</dc:subject>
  <dc:creator>Artem Khan</dc:creator>
  <cp:lastModifiedBy>Артем Хан</cp:lastModifiedBy>
  <cp:revision>2</cp:revision>
  <dcterms:created xsi:type="dcterms:W3CDTF">2026-10-08T16:12:34Z</dcterms:created>
  <dcterms:modified xsi:type="dcterms:W3CDTF">2026-10-08T16:19:01Z</dcterms:modified>
</cp:coreProperties>
</file>